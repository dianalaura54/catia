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74" autoAdjust="0"/>
    <p:restoredTop sz="94610"/>
  </p:normalViewPr>
  <p:slideViewPr>
    <p:cSldViewPr snapToGrid="0" snapToObjects="1">
      <p:cViewPr varScale="1">
        <p:scale>
          <a:sx n="85" d="100"/>
          <a:sy n="85" d="100"/>
        </p:scale>
        <p:origin x="562"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01884390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part: a car hood scanned as an open single-skin mesh, ~1236 x 551 mm, 287k triangles. Explain the goal in one sentence: turn the messy scan into a clean parametric solid, then prove it matches. Point out the 7-step workflow and stress you used only allowed commands — no Power Fit, Automatic Surface, or Curve on Mesh.</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the imported hood at correct scale and the mesh node in the tree. Mention units were set to mm so the part came in life-size. This is the 1-point import step.</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State clearly: you checked the mesh and it had no defects, so cleaning was not applicable. Per the rubric, that point is added to the surfaces score. Note the bumps near the edge are real panel features, not noise.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two corrections: a roll about the long (Y) axis to lay it flat, then a translation to center it so the symmetry plane lands on yz. Mention each transform creates a new mesh, so you hid the intermediate ones. This is the 1-point alignment step.</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why curves first: a surface needs a skeleton of curves to follow. You traced points that snap onto the mesh. Emphasize this manual route respects the ban on Power Fit / Automatic Surface / Curve on Mesh.</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biggest scoring step. Show the surface following the hood. Be honest: it is smooth over the main panel with minor waviness and does not fully reach the edges. Stress the tidy tree and that only allowed commands were used.</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thickness was chosen (~1 mm) because the scan is a single skin with no measurable wall, and 1 mm is realistic for a hood outer panel. This is the 1-point solid step. Note: no holes on this panel, so the Hole/operations point folds into surfaces.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result honestly: the main panel matches within about half a millimetre (green), with larger errors only at the trimmed edges where the simplified surface does not fully follow the scan. This is the 1-point deviation step.</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Wrap up: every grading step is covered — import, alignment, surfaces (allowed commands, clean tree), solid, deviation. Be honest that the surface is a good approximation (within ~0.5 mm on the main panel) rather than a perfect Class-A surface. Remember to upload BOTH the .CATPart and this presentation to the Assignment.</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1295C"/>
        </a:solidFill>
        <a:effectLst/>
      </p:bgPr>
    </p:bg>
    <p:spTree>
      <p:nvGrpSpPr>
        <p:cNvPr id="1" name=""/>
        <p:cNvGrpSpPr/>
        <p:nvPr/>
      </p:nvGrpSpPr>
      <p:grpSpPr>
        <a:xfrm>
          <a:off x="0" y="0"/>
          <a:ext cx="0" cy="0"/>
          <a:chOff x="0" y="0"/>
          <a:chExt cx="0" cy="0"/>
        </a:xfrm>
      </p:grpSpPr>
      <p:sp>
        <p:nvSpPr>
          <p:cNvPr id="2" name="Text 0"/>
          <p:cNvSpPr/>
          <p:nvPr/>
        </p:nvSpPr>
        <p:spPr>
          <a:xfrm>
            <a:off x="822960" y="2011680"/>
            <a:ext cx="10515600" cy="548640"/>
          </a:xfrm>
          <a:prstGeom prst="rect">
            <a:avLst/>
          </a:prstGeom>
          <a:noFill/>
          <a:ln/>
        </p:spPr>
        <p:txBody>
          <a:bodyPr wrap="square" rtlCol="0" anchor="ctr"/>
          <a:lstStyle/>
          <a:p>
            <a:r>
              <a:rPr lang="en-US" sz="3200" b="1" dirty="0" err="1">
                <a:solidFill>
                  <a:schemeClr val="bg1">
                    <a:lumMod val="95000"/>
                  </a:schemeClr>
                </a:solidFill>
                <a:latin typeface="Cambria" panose="02040503050406030204" pitchFamily="18" charset="0"/>
                <a:ea typeface="Cambria" panose="02040503050406030204" pitchFamily="18" charset="0"/>
                <a:cs typeface="Times New Roman" panose="02020603050405020304" pitchFamily="18" charset="0"/>
              </a:rPr>
              <a:t>Sisteme</a:t>
            </a:r>
            <a:r>
              <a:rPr lang="en-US" sz="3200" b="1" dirty="0">
                <a:solidFill>
                  <a:schemeClr val="bg1">
                    <a:lumMod val="95000"/>
                  </a:schemeClr>
                </a:solidFill>
                <a:latin typeface="Cambria" panose="02040503050406030204" pitchFamily="18" charset="0"/>
                <a:ea typeface="Cambria" panose="02040503050406030204" pitchFamily="18" charset="0"/>
                <a:cs typeface="Times New Roman" panose="02020603050405020304" pitchFamily="18" charset="0"/>
              </a:rPr>
              <a:t> de </a:t>
            </a:r>
            <a:r>
              <a:rPr lang="en-US" sz="3200" b="1" dirty="0" err="1">
                <a:solidFill>
                  <a:schemeClr val="bg1">
                    <a:lumMod val="95000"/>
                  </a:schemeClr>
                </a:solidFill>
                <a:latin typeface="Cambria" panose="02040503050406030204" pitchFamily="18" charset="0"/>
                <a:ea typeface="Cambria" panose="02040503050406030204" pitchFamily="18" charset="0"/>
                <a:cs typeface="Times New Roman" panose="02020603050405020304" pitchFamily="18" charset="0"/>
              </a:rPr>
              <a:t>scanare</a:t>
            </a:r>
            <a:r>
              <a:rPr lang="en-US" sz="3200" b="1" dirty="0">
                <a:solidFill>
                  <a:schemeClr val="bg1">
                    <a:lumMod val="95000"/>
                  </a:schemeClr>
                </a:solidFill>
                <a:latin typeface="Cambria" panose="02040503050406030204" pitchFamily="18" charset="0"/>
                <a:ea typeface="Cambria" panose="02040503050406030204" pitchFamily="18" charset="0"/>
                <a:cs typeface="Times New Roman" panose="02020603050405020304" pitchFamily="18" charset="0"/>
              </a:rPr>
              <a:t> 3D</a:t>
            </a:r>
          </a:p>
        </p:txBody>
      </p:sp>
      <p:sp>
        <p:nvSpPr>
          <p:cNvPr id="3" name="Text 1"/>
          <p:cNvSpPr/>
          <p:nvPr/>
        </p:nvSpPr>
        <p:spPr>
          <a:xfrm>
            <a:off x="822960" y="2606040"/>
            <a:ext cx="10515600" cy="1097280"/>
          </a:xfrm>
          <a:prstGeom prst="rect">
            <a:avLst/>
          </a:prstGeom>
          <a:noFill/>
          <a:ln/>
        </p:spPr>
        <p:txBody>
          <a:bodyPr wrap="square" rtlCol="0" anchor="ctr"/>
          <a:lstStyle/>
          <a:p>
            <a:pPr marL="0" indent="0" algn="l">
              <a:buNone/>
            </a:pPr>
            <a:r>
              <a:rPr lang="en-US" sz="4400" b="1" dirty="0">
                <a:solidFill>
                  <a:srgbClr val="FFFFFF"/>
                </a:solidFill>
                <a:latin typeface="Cambria" pitchFamily="34" charset="0"/>
                <a:ea typeface="Cambria" pitchFamily="34" charset="-122"/>
                <a:cs typeface="Cambria" pitchFamily="34" charset="-120"/>
              </a:rPr>
              <a:t>Car Hood — from 3D Scan to Solid Model</a:t>
            </a:r>
            <a:r>
              <a:rPr lang="ro-RO" sz="4400" b="1" dirty="0">
                <a:solidFill>
                  <a:srgbClr val="FFFFFF"/>
                </a:solidFill>
                <a:latin typeface="Cambria" pitchFamily="34" charset="0"/>
                <a:ea typeface="Cambria" pitchFamily="34" charset="-122"/>
                <a:cs typeface="Cambria" pitchFamily="34" charset="-120"/>
              </a:rPr>
              <a:t> (Capota masina)</a:t>
            </a:r>
            <a:endParaRPr lang="en-US" sz="4400" dirty="0"/>
          </a:p>
        </p:txBody>
      </p:sp>
      <p:sp>
        <p:nvSpPr>
          <p:cNvPr id="4" name="Text 2"/>
          <p:cNvSpPr/>
          <p:nvPr/>
        </p:nvSpPr>
        <p:spPr>
          <a:xfrm>
            <a:off x="822960" y="3794760"/>
            <a:ext cx="10515600" cy="457200"/>
          </a:xfrm>
          <a:prstGeom prst="rect">
            <a:avLst/>
          </a:prstGeom>
          <a:noFill/>
          <a:ln/>
        </p:spPr>
        <p:txBody>
          <a:bodyPr wrap="square" rtlCol="0" anchor="ctr"/>
          <a:lstStyle/>
          <a:p>
            <a:pPr marL="0" indent="0" algn="l">
              <a:buNone/>
            </a:pPr>
            <a:r>
              <a:rPr lang="en-US" sz="1500" dirty="0">
                <a:solidFill>
                  <a:srgbClr val="CADCFC"/>
                </a:solidFill>
                <a:latin typeface="Calibri" pitchFamily="34" charset="0"/>
                <a:ea typeface="Calibri" pitchFamily="34" charset="-122"/>
                <a:cs typeface="Calibri" pitchFamily="34" charset="-120"/>
              </a:rPr>
              <a:t>CATIA V5 · Digitized Shape Editor · Quick Surface Reconstruction · Part Design</a:t>
            </a:r>
            <a:endParaRPr lang="en-US" sz="1500" dirty="0"/>
          </a:p>
        </p:txBody>
      </p:sp>
      <p:sp>
        <p:nvSpPr>
          <p:cNvPr id="5" name="Text 3"/>
          <p:cNvSpPr/>
          <p:nvPr/>
        </p:nvSpPr>
        <p:spPr>
          <a:xfrm>
            <a:off x="822960" y="5212080"/>
            <a:ext cx="10515600" cy="457200"/>
          </a:xfrm>
          <a:prstGeom prst="rect">
            <a:avLst/>
          </a:prstGeom>
          <a:noFill/>
          <a:ln/>
        </p:spPr>
        <p:txBody>
          <a:bodyPr wrap="square" rtlCol="0" anchor="ctr"/>
          <a:lstStyle/>
          <a:p>
            <a:pPr marL="0" indent="0">
              <a:buNone/>
            </a:pPr>
            <a:r>
              <a:rPr lang="en-US" sz="1400" b="1" dirty="0">
                <a:solidFill>
                  <a:srgbClr val="CADCFC"/>
                </a:solidFill>
                <a:latin typeface="Calibri" pitchFamily="34" charset="0"/>
                <a:ea typeface="Calibri" pitchFamily="34" charset="-122"/>
                <a:cs typeface="Calibri" pitchFamily="34" charset="-120"/>
              </a:rPr>
              <a:t>Part: </a:t>
            </a:r>
            <a:r>
              <a:rPr lang="en-US" sz="1400" dirty="0">
                <a:solidFill>
                  <a:srgbClr val="CADCFC"/>
                </a:solidFill>
                <a:latin typeface="Calibri" pitchFamily="34" charset="0"/>
                <a:ea typeface="Calibri" pitchFamily="34" charset="-122"/>
                <a:cs typeface="Calibri" pitchFamily="34" charset="-120"/>
              </a:rPr>
              <a:t>Capota_masina_1.stl    </a:t>
            </a:r>
            <a:r>
              <a:rPr lang="en-US" sz="1400" b="1" dirty="0">
                <a:solidFill>
                  <a:srgbClr val="CADCFC"/>
                </a:solidFill>
                <a:latin typeface="Calibri" pitchFamily="34" charset="0"/>
                <a:ea typeface="Calibri" pitchFamily="34" charset="-122"/>
                <a:cs typeface="Calibri" pitchFamily="34" charset="-120"/>
              </a:rPr>
              <a:t>Name: </a:t>
            </a:r>
            <a:r>
              <a:rPr lang="ro-RO" sz="1400" b="1" dirty="0">
                <a:solidFill>
                  <a:srgbClr val="CADCFC"/>
                </a:solidFill>
                <a:latin typeface="Calibri" pitchFamily="34" charset="0"/>
                <a:ea typeface="Calibri" pitchFamily="34" charset="-122"/>
                <a:cs typeface="Calibri" pitchFamily="34" charset="-120"/>
              </a:rPr>
              <a:t>Vaida Diana-Laura</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11480"/>
            <a:ext cx="10972800" cy="731520"/>
          </a:xfrm>
          <a:prstGeom prst="rect">
            <a:avLst/>
          </a:prstGeom>
          <a:noFill/>
          <a:ln/>
        </p:spPr>
        <p:txBody>
          <a:bodyPr wrap="square" lIns="0" tIns="0" rIns="0" bIns="0" rtlCol="0" anchor="ctr"/>
          <a:lstStyle/>
          <a:p>
            <a:pPr marL="0" indent="0">
              <a:buNone/>
            </a:pPr>
            <a:r>
              <a:rPr lang="en-US" sz="3400" b="1" dirty="0">
                <a:solidFill>
                  <a:srgbClr val="1B2433"/>
                </a:solidFill>
                <a:latin typeface="Cambria" pitchFamily="34" charset="0"/>
                <a:ea typeface="Cambria" pitchFamily="34" charset="-122"/>
                <a:cs typeface="Cambria" pitchFamily="34" charset="-120"/>
              </a:rPr>
              <a:t>Overview &amp; Workflow</a:t>
            </a:r>
            <a:endParaRPr lang="en-US" sz="3400" dirty="0"/>
          </a:p>
        </p:txBody>
      </p:sp>
      <p:sp>
        <p:nvSpPr>
          <p:cNvPr id="3" name="Text 1"/>
          <p:cNvSpPr/>
          <p:nvPr/>
        </p:nvSpPr>
        <p:spPr>
          <a:xfrm>
            <a:off x="640080" y="1234440"/>
            <a:ext cx="10972800" cy="548640"/>
          </a:xfrm>
          <a:prstGeom prst="rect">
            <a:avLst/>
          </a:prstGeom>
          <a:noFill/>
          <a:ln/>
        </p:spPr>
        <p:txBody>
          <a:bodyPr wrap="square" rtlCol="0" anchor="ctr"/>
          <a:lstStyle/>
          <a:p>
            <a:pPr marL="0" indent="0">
              <a:buNone/>
            </a:pPr>
            <a:r>
              <a:rPr lang="en-US" sz="1500" dirty="0">
                <a:solidFill>
                  <a:srgbClr val="64748B"/>
                </a:solidFill>
                <a:latin typeface="Calibri" pitchFamily="34" charset="0"/>
                <a:ea typeface="Calibri" pitchFamily="34" charset="-122"/>
                <a:cs typeface="Calibri" pitchFamily="34" charset="-120"/>
              </a:rPr>
              <a:t>Goal: rebuild a clean parametric solid model of the hood panel from its 3D scan mesh, then verify accuracy against the scan.</a:t>
            </a:r>
            <a:endParaRPr lang="en-US" sz="1500" dirty="0"/>
          </a:p>
        </p:txBody>
      </p:sp>
      <p:sp>
        <p:nvSpPr>
          <p:cNvPr id="4" name="Shape 2"/>
          <p:cNvSpPr/>
          <p:nvPr/>
        </p:nvSpPr>
        <p:spPr>
          <a:xfrm>
            <a:off x="640080" y="2011680"/>
            <a:ext cx="3566160" cy="1325880"/>
          </a:xfrm>
          <a:prstGeom prst="roundRect">
            <a:avLst>
              <a:gd name="adj" fmla="val 4828"/>
            </a:avLst>
          </a:prstGeom>
          <a:solidFill>
            <a:srgbClr val="F4F6F9"/>
          </a:solidFill>
          <a:ln/>
          <a:effectLst>
            <a:outerShdw blurRad="88900" dist="25400" dir="5400000" algn="bl" rotWithShape="0">
              <a:srgbClr val="000000">
                <a:alpha val="13000"/>
              </a:srgbClr>
            </a:outerShdw>
          </a:effectLst>
        </p:spPr>
      </p:sp>
      <p:sp>
        <p:nvSpPr>
          <p:cNvPr id="5" name="Shape 3"/>
          <p:cNvSpPr/>
          <p:nvPr/>
        </p:nvSpPr>
        <p:spPr>
          <a:xfrm>
            <a:off x="841248" y="2267712"/>
            <a:ext cx="502920" cy="502920"/>
          </a:xfrm>
          <a:prstGeom prst="ellipse">
            <a:avLst/>
          </a:prstGeom>
          <a:solidFill>
            <a:srgbClr val="065A82"/>
          </a:solidFill>
          <a:ln/>
        </p:spPr>
      </p:sp>
      <p:sp>
        <p:nvSpPr>
          <p:cNvPr id="6" name="Text 4"/>
          <p:cNvSpPr/>
          <p:nvPr/>
        </p:nvSpPr>
        <p:spPr>
          <a:xfrm>
            <a:off x="841248" y="2267712"/>
            <a:ext cx="502920" cy="502920"/>
          </a:xfrm>
          <a:prstGeom prst="rect">
            <a:avLst/>
          </a:prstGeom>
          <a:noFill/>
          <a:ln/>
        </p:spPr>
        <p:txBody>
          <a:bodyPr wrap="square"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1</a:t>
            </a:r>
            <a:endParaRPr lang="en-US" sz="2000" dirty="0"/>
          </a:p>
        </p:txBody>
      </p:sp>
      <p:sp>
        <p:nvSpPr>
          <p:cNvPr id="7" name="Text 5"/>
          <p:cNvSpPr/>
          <p:nvPr/>
        </p:nvSpPr>
        <p:spPr>
          <a:xfrm>
            <a:off x="1508760" y="2212848"/>
            <a:ext cx="2560320" cy="411480"/>
          </a:xfrm>
          <a:prstGeom prst="rect">
            <a:avLst/>
          </a:prstGeom>
          <a:noFill/>
          <a:ln/>
        </p:spPr>
        <p:txBody>
          <a:bodyPr wrap="square" lIns="0" tIns="0" rIns="0" bIns="0" rtlCol="0" anchor="ctr"/>
          <a:lstStyle/>
          <a:p>
            <a:pPr marL="0" indent="0">
              <a:buNone/>
            </a:pPr>
            <a:r>
              <a:rPr lang="en-US" sz="1600" b="1" dirty="0">
                <a:solidFill>
                  <a:srgbClr val="1B2433"/>
                </a:solidFill>
                <a:latin typeface="Cambria" pitchFamily="34" charset="0"/>
                <a:ea typeface="Cambria" pitchFamily="34" charset="-122"/>
                <a:cs typeface="Cambria" pitchFamily="34" charset="-120"/>
              </a:rPr>
              <a:t>Import mesh</a:t>
            </a:r>
            <a:endParaRPr lang="en-US" sz="1600" dirty="0"/>
          </a:p>
        </p:txBody>
      </p:sp>
      <p:sp>
        <p:nvSpPr>
          <p:cNvPr id="8" name="Text 6"/>
          <p:cNvSpPr/>
          <p:nvPr/>
        </p:nvSpPr>
        <p:spPr>
          <a:xfrm>
            <a:off x="1508760" y="2615184"/>
            <a:ext cx="2560320" cy="594360"/>
          </a:xfrm>
          <a:prstGeom prst="rect">
            <a:avLst/>
          </a:prstGeom>
          <a:noFill/>
          <a:ln/>
        </p:spPr>
        <p:txBody>
          <a:bodyPr wrap="square" lIns="0" tIns="0" rIns="0" bIns="0" rtlCol="0" anchor="ctr"/>
          <a:lstStyle/>
          <a:p>
            <a:pPr marL="0" indent="0">
              <a:buNone/>
            </a:pPr>
            <a:r>
              <a:rPr lang="en-US" sz="1200" dirty="0">
                <a:solidFill>
                  <a:srgbClr val="64748B"/>
                </a:solidFill>
                <a:latin typeface="Calibri" pitchFamily="34" charset="0"/>
                <a:ea typeface="Calibri" pitchFamily="34" charset="-122"/>
                <a:cs typeface="Calibri" pitchFamily="34" charset="-120"/>
              </a:rPr>
              <a:t>Load the STL into Digitized Shape Editor</a:t>
            </a:r>
            <a:endParaRPr lang="en-US" sz="1200" dirty="0"/>
          </a:p>
        </p:txBody>
      </p:sp>
      <p:sp>
        <p:nvSpPr>
          <p:cNvPr id="9" name="Shape 7"/>
          <p:cNvSpPr/>
          <p:nvPr/>
        </p:nvSpPr>
        <p:spPr>
          <a:xfrm>
            <a:off x="4434840" y="2011680"/>
            <a:ext cx="3566160" cy="1325880"/>
          </a:xfrm>
          <a:prstGeom prst="roundRect">
            <a:avLst>
              <a:gd name="adj" fmla="val 4828"/>
            </a:avLst>
          </a:prstGeom>
          <a:solidFill>
            <a:srgbClr val="F4F6F9"/>
          </a:solidFill>
          <a:ln/>
          <a:effectLst>
            <a:outerShdw blurRad="88900" dist="25400" dir="5400000" algn="bl" rotWithShape="0">
              <a:srgbClr val="000000">
                <a:alpha val="13000"/>
              </a:srgbClr>
            </a:outerShdw>
          </a:effectLst>
        </p:spPr>
      </p:sp>
      <p:sp>
        <p:nvSpPr>
          <p:cNvPr id="10" name="Shape 8"/>
          <p:cNvSpPr/>
          <p:nvPr/>
        </p:nvSpPr>
        <p:spPr>
          <a:xfrm>
            <a:off x="4636008" y="2267712"/>
            <a:ext cx="502920" cy="502920"/>
          </a:xfrm>
          <a:prstGeom prst="ellipse">
            <a:avLst/>
          </a:prstGeom>
          <a:solidFill>
            <a:srgbClr val="065A82"/>
          </a:solidFill>
          <a:ln/>
        </p:spPr>
      </p:sp>
      <p:sp>
        <p:nvSpPr>
          <p:cNvPr id="11" name="Text 9"/>
          <p:cNvSpPr/>
          <p:nvPr/>
        </p:nvSpPr>
        <p:spPr>
          <a:xfrm>
            <a:off x="4636008" y="2267712"/>
            <a:ext cx="502920" cy="502920"/>
          </a:xfrm>
          <a:prstGeom prst="rect">
            <a:avLst/>
          </a:prstGeom>
          <a:noFill/>
          <a:ln/>
        </p:spPr>
        <p:txBody>
          <a:bodyPr wrap="square"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2</a:t>
            </a:r>
            <a:endParaRPr lang="en-US" sz="2000" dirty="0"/>
          </a:p>
        </p:txBody>
      </p:sp>
      <p:sp>
        <p:nvSpPr>
          <p:cNvPr id="12" name="Text 10"/>
          <p:cNvSpPr/>
          <p:nvPr/>
        </p:nvSpPr>
        <p:spPr>
          <a:xfrm>
            <a:off x="5303520" y="2212848"/>
            <a:ext cx="2560320" cy="411480"/>
          </a:xfrm>
          <a:prstGeom prst="rect">
            <a:avLst/>
          </a:prstGeom>
          <a:noFill/>
          <a:ln/>
        </p:spPr>
        <p:txBody>
          <a:bodyPr wrap="square" lIns="0" tIns="0" rIns="0" bIns="0" rtlCol="0" anchor="ctr"/>
          <a:lstStyle/>
          <a:p>
            <a:pPr marL="0" indent="0">
              <a:buNone/>
            </a:pPr>
            <a:r>
              <a:rPr lang="en-US" sz="1600" b="1" dirty="0">
                <a:solidFill>
                  <a:srgbClr val="1B2433"/>
                </a:solidFill>
                <a:latin typeface="Cambria" pitchFamily="34" charset="0"/>
                <a:ea typeface="Cambria" pitchFamily="34" charset="-122"/>
                <a:cs typeface="Cambria" pitchFamily="34" charset="-120"/>
              </a:rPr>
              <a:t>Inspect / clean</a:t>
            </a:r>
            <a:endParaRPr lang="en-US" sz="1600" dirty="0"/>
          </a:p>
        </p:txBody>
      </p:sp>
      <p:sp>
        <p:nvSpPr>
          <p:cNvPr id="13" name="Text 11"/>
          <p:cNvSpPr/>
          <p:nvPr/>
        </p:nvSpPr>
        <p:spPr>
          <a:xfrm>
            <a:off x="5303520" y="2615184"/>
            <a:ext cx="2560320" cy="594360"/>
          </a:xfrm>
          <a:prstGeom prst="rect">
            <a:avLst/>
          </a:prstGeom>
          <a:noFill/>
          <a:ln/>
        </p:spPr>
        <p:txBody>
          <a:bodyPr wrap="square" lIns="0" tIns="0" rIns="0" bIns="0" rtlCol="0" anchor="ctr"/>
          <a:lstStyle/>
          <a:p>
            <a:pPr marL="0" indent="0">
              <a:buNone/>
            </a:pPr>
            <a:r>
              <a:rPr lang="en-US" sz="1200" dirty="0">
                <a:solidFill>
                  <a:srgbClr val="64748B"/>
                </a:solidFill>
                <a:latin typeface="Calibri" pitchFamily="34" charset="0"/>
                <a:ea typeface="Calibri" pitchFamily="34" charset="-122"/>
                <a:cs typeface="Calibri" pitchFamily="34" charset="-120"/>
              </a:rPr>
              <a:t>Check the mesh — no defects, no cleaning needed</a:t>
            </a:r>
            <a:endParaRPr lang="en-US" sz="1200" dirty="0"/>
          </a:p>
        </p:txBody>
      </p:sp>
      <p:sp>
        <p:nvSpPr>
          <p:cNvPr id="14" name="Shape 12"/>
          <p:cNvSpPr/>
          <p:nvPr/>
        </p:nvSpPr>
        <p:spPr>
          <a:xfrm>
            <a:off x="8229600" y="2011680"/>
            <a:ext cx="3566160" cy="1325880"/>
          </a:xfrm>
          <a:prstGeom prst="roundRect">
            <a:avLst>
              <a:gd name="adj" fmla="val 4828"/>
            </a:avLst>
          </a:prstGeom>
          <a:solidFill>
            <a:srgbClr val="F4F6F9"/>
          </a:solidFill>
          <a:ln/>
          <a:effectLst>
            <a:outerShdw blurRad="88900" dist="25400" dir="5400000" algn="bl" rotWithShape="0">
              <a:srgbClr val="000000">
                <a:alpha val="13000"/>
              </a:srgbClr>
            </a:outerShdw>
          </a:effectLst>
        </p:spPr>
      </p:sp>
      <p:sp>
        <p:nvSpPr>
          <p:cNvPr id="15" name="Shape 13"/>
          <p:cNvSpPr/>
          <p:nvPr/>
        </p:nvSpPr>
        <p:spPr>
          <a:xfrm>
            <a:off x="8430768" y="2267712"/>
            <a:ext cx="502920" cy="502920"/>
          </a:xfrm>
          <a:prstGeom prst="ellipse">
            <a:avLst/>
          </a:prstGeom>
          <a:solidFill>
            <a:srgbClr val="065A82"/>
          </a:solidFill>
          <a:ln/>
        </p:spPr>
      </p:sp>
      <p:sp>
        <p:nvSpPr>
          <p:cNvPr id="16" name="Text 14"/>
          <p:cNvSpPr/>
          <p:nvPr/>
        </p:nvSpPr>
        <p:spPr>
          <a:xfrm>
            <a:off x="8430768" y="2267712"/>
            <a:ext cx="502920" cy="502920"/>
          </a:xfrm>
          <a:prstGeom prst="rect">
            <a:avLst/>
          </a:prstGeom>
          <a:noFill/>
          <a:ln/>
        </p:spPr>
        <p:txBody>
          <a:bodyPr wrap="square"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3</a:t>
            </a:r>
            <a:endParaRPr lang="en-US" sz="2000" dirty="0"/>
          </a:p>
        </p:txBody>
      </p:sp>
      <p:sp>
        <p:nvSpPr>
          <p:cNvPr id="17" name="Text 15"/>
          <p:cNvSpPr/>
          <p:nvPr/>
        </p:nvSpPr>
        <p:spPr>
          <a:xfrm>
            <a:off x="9098280" y="2212848"/>
            <a:ext cx="2560320" cy="411480"/>
          </a:xfrm>
          <a:prstGeom prst="rect">
            <a:avLst/>
          </a:prstGeom>
          <a:noFill/>
          <a:ln/>
        </p:spPr>
        <p:txBody>
          <a:bodyPr wrap="square" lIns="0" tIns="0" rIns="0" bIns="0" rtlCol="0" anchor="ctr"/>
          <a:lstStyle/>
          <a:p>
            <a:pPr marL="0" indent="0">
              <a:buNone/>
            </a:pPr>
            <a:r>
              <a:rPr lang="en-US" sz="1600" b="1" dirty="0">
                <a:solidFill>
                  <a:srgbClr val="1B2433"/>
                </a:solidFill>
                <a:latin typeface="Cambria" pitchFamily="34" charset="0"/>
                <a:ea typeface="Cambria" pitchFamily="34" charset="-122"/>
                <a:cs typeface="Cambria" pitchFamily="34" charset="-120"/>
              </a:rPr>
              <a:t>Align to planes</a:t>
            </a:r>
            <a:endParaRPr lang="en-US" sz="1600" dirty="0"/>
          </a:p>
        </p:txBody>
      </p:sp>
      <p:sp>
        <p:nvSpPr>
          <p:cNvPr id="18" name="Text 16"/>
          <p:cNvSpPr/>
          <p:nvPr/>
        </p:nvSpPr>
        <p:spPr>
          <a:xfrm>
            <a:off x="9098280" y="2615184"/>
            <a:ext cx="2560320" cy="594360"/>
          </a:xfrm>
          <a:prstGeom prst="rect">
            <a:avLst/>
          </a:prstGeom>
          <a:noFill/>
          <a:ln/>
        </p:spPr>
        <p:txBody>
          <a:bodyPr wrap="square" lIns="0" tIns="0" rIns="0" bIns="0" rtlCol="0" anchor="ctr"/>
          <a:lstStyle/>
          <a:p>
            <a:pPr marL="0" indent="0">
              <a:buNone/>
            </a:pPr>
            <a:r>
              <a:rPr lang="en-US" sz="1200" dirty="0">
                <a:solidFill>
                  <a:srgbClr val="64748B"/>
                </a:solidFill>
                <a:latin typeface="Calibri" pitchFamily="34" charset="0"/>
                <a:ea typeface="Calibri" pitchFamily="34" charset="-122"/>
                <a:cs typeface="Calibri" pitchFamily="34" charset="-120"/>
              </a:rPr>
              <a:t>Rotate flat + center; symmetry plane on yz</a:t>
            </a:r>
            <a:endParaRPr lang="en-US" sz="1200" dirty="0"/>
          </a:p>
        </p:txBody>
      </p:sp>
      <p:sp>
        <p:nvSpPr>
          <p:cNvPr id="19" name="Shape 17"/>
          <p:cNvSpPr/>
          <p:nvPr/>
        </p:nvSpPr>
        <p:spPr>
          <a:xfrm>
            <a:off x="640080" y="3566160"/>
            <a:ext cx="3566160" cy="1325880"/>
          </a:xfrm>
          <a:prstGeom prst="roundRect">
            <a:avLst>
              <a:gd name="adj" fmla="val 4828"/>
            </a:avLst>
          </a:prstGeom>
          <a:solidFill>
            <a:srgbClr val="F4F6F9"/>
          </a:solidFill>
          <a:ln/>
          <a:effectLst>
            <a:outerShdw blurRad="88900" dist="25400" dir="5400000" algn="bl" rotWithShape="0">
              <a:srgbClr val="000000">
                <a:alpha val="13000"/>
              </a:srgbClr>
            </a:outerShdw>
          </a:effectLst>
        </p:spPr>
      </p:sp>
      <p:sp>
        <p:nvSpPr>
          <p:cNvPr id="20" name="Shape 18"/>
          <p:cNvSpPr/>
          <p:nvPr/>
        </p:nvSpPr>
        <p:spPr>
          <a:xfrm>
            <a:off x="841248" y="3822192"/>
            <a:ext cx="502920" cy="502920"/>
          </a:xfrm>
          <a:prstGeom prst="ellipse">
            <a:avLst/>
          </a:prstGeom>
          <a:solidFill>
            <a:srgbClr val="065A82"/>
          </a:solidFill>
          <a:ln/>
        </p:spPr>
      </p:sp>
      <p:sp>
        <p:nvSpPr>
          <p:cNvPr id="21" name="Text 19"/>
          <p:cNvSpPr/>
          <p:nvPr/>
        </p:nvSpPr>
        <p:spPr>
          <a:xfrm>
            <a:off x="841248" y="3822192"/>
            <a:ext cx="502920" cy="502920"/>
          </a:xfrm>
          <a:prstGeom prst="rect">
            <a:avLst/>
          </a:prstGeom>
          <a:noFill/>
          <a:ln/>
        </p:spPr>
        <p:txBody>
          <a:bodyPr wrap="square"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4</a:t>
            </a:r>
            <a:endParaRPr lang="en-US" sz="2000" dirty="0"/>
          </a:p>
        </p:txBody>
      </p:sp>
      <p:sp>
        <p:nvSpPr>
          <p:cNvPr id="22" name="Text 20"/>
          <p:cNvSpPr/>
          <p:nvPr/>
        </p:nvSpPr>
        <p:spPr>
          <a:xfrm>
            <a:off x="1508760" y="3767328"/>
            <a:ext cx="2560320" cy="411480"/>
          </a:xfrm>
          <a:prstGeom prst="rect">
            <a:avLst/>
          </a:prstGeom>
          <a:noFill/>
          <a:ln/>
        </p:spPr>
        <p:txBody>
          <a:bodyPr wrap="square" lIns="0" tIns="0" rIns="0" bIns="0" rtlCol="0" anchor="ctr"/>
          <a:lstStyle/>
          <a:p>
            <a:pPr marL="0" indent="0">
              <a:buNone/>
            </a:pPr>
            <a:r>
              <a:rPr lang="en-US" sz="1600" b="1" dirty="0">
                <a:solidFill>
                  <a:srgbClr val="1B2433"/>
                </a:solidFill>
                <a:latin typeface="Cambria" pitchFamily="34" charset="0"/>
                <a:ea typeface="Cambria" pitchFamily="34" charset="-122"/>
                <a:cs typeface="Cambria" pitchFamily="34" charset="-120"/>
              </a:rPr>
              <a:t>Build curves</a:t>
            </a:r>
            <a:endParaRPr lang="en-US" sz="1600" dirty="0"/>
          </a:p>
        </p:txBody>
      </p:sp>
      <p:sp>
        <p:nvSpPr>
          <p:cNvPr id="23" name="Text 21"/>
          <p:cNvSpPr/>
          <p:nvPr/>
        </p:nvSpPr>
        <p:spPr>
          <a:xfrm>
            <a:off x="1508760" y="4169664"/>
            <a:ext cx="2560320" cy="594360"/>
          </a:xfrm>
          <a:prstGeom prst="rect">
            <a:avLst/>
          </a:prstGeom>
          <a:noFill/>
          <a:ln/>
        </p:spPr>
        <p:txBody>
          <a:bodyPr wrap="square" lIns="0" tIns="0" rIns="0" bIns="0" rtlCol="0" anchor="ctr"/>
          <a:lstStyle/>
          <a:p>
            <a:pPr marL="0" indent="0">
              <a:buNone/>
            </a:pPr>
            <a:r>
              <a:rPr lang="en-US" sz="1200" dirty="0">
                <a:solidFill>
                  <a:srgbClr val="64748B"/>
                </a:solidFill>
                <a:latin typeface="Calibri" pitchFamily="34" charset="0"/>
                <a:ea typeface="Calibri" pitchFamily="34" charset="-122"/>
                <a:cs typeface="Calibri" pitchFamily="34" charset="-120"/>
              </a:rPr>
              <a:t>3D Curves traced on the mesh surface</a:t>
            </a:r>
            <a:endParaRPr lang="en-US" sz="1200" dirty="0"/>
          </a:p>
        </p:txBody>
      </p:sp>
      <p:sp>
        <p:nvSpPr>
          <p:cNvPr id="24" name="Shape 22"/>
          <p:cNvSpPr/>
          <p:nvPr/>
        </p:nvSpPr>
        <p:spPr>
          <a:xfrm>
            <a:off x="4434840" y="3566160"/>
            <a:ext cx="3566160" cy="1325880"/>
          </a:xfrm>
          <a:prstGeom prst="roundRect">
            <a:avLst>
              <a:gd name="adj" fmla="val 4828"/>
            </a:avLst>
          </a:prstGeom>
          <a:solidFill>
            <a:srgbClr val="F4F6F9"/>
          </a:solidFill>
          <a:ln/>
          <a:effectLst>
            <a:outerShdw blurRad="88900" dist="25400" dir="5400000" algn="bl" rotWithShape="0">
              <a:srgbClr val="000000">
                <a:alpha val="13000"/>
              </a:srgbClr>
            </a:outerShdw>
          </a:effectLst>
        </p:spPr>
      </p:sp>
      <p:sp>
        <p:nvSpPr>
          <p:cNvPr id="25" name="Shape 23"/>
          <p:cNvSpPr/>
          <p:nvPr/>
        </p:nvSpPr>
        <p:spPr>
          <a:xfrm>
            <a:off x="4636008" y="3822192"/>
            <a:ext cx="502920" cy="502920"/>
          </a:xfrm>
          <a:prstGeom prst="ellipse">
            <a:avLst/>
          </a:prstGeom>
          <a:solidFill>
            <a:srgbClr val="065A82"/>
          </a:solidFill>
          <a:ln/>
        </p:spPr>
      </p:sp>
      <p:sp>
        <p:nvSpPr>
          <p:cNvPr id="26" name="Text 24"/>
          <p:cNvSpPr/>
          <p:nvPr/>
        </p:nvSpPr>
        <p:spPr>
          <a:xfrm>
            <a:off x="4636008" y="3822192"/>
            <a:ext cx="502920" cy="502920"/>
          </a:xfrm>
          <a:prstGeom prst="rect">
            <a:avLst/>
          </a:prstGeom>
          <a:noFill/>
          <a:ln/>
        </p:spPr>
        <p:txBody>
          <a:bodyPr wrap="square"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5</a:t>
            </a:r>
            <a:endParaRPr lang="en-US" sz="2000" dirty="0"/>
          </a:p>
        </p:txBody>
      </p:sp>
      <p:sp>
        <p:nvSpPr>
          <p:cNvPr id="27" name="Text 25"/>
          <p:cNvSpPr/>
          <p:nvPr/>
        </p:nvSpPr>
        <p:spPr>
          <a:xfrm>
            <a:off x="5303520" y="3767328"/>
            <a:ext cx="2560320" cy="411480"/>
          </a:xfrm>
          <a:prstGeom prst="rect">
            <a:avLst/>
          </a:prstGeom>
          <a:noFill/>
          <a:ln/>
        </p:spPr>
        <p:txBody>
          <a:bodyPr wrap="square" lIns="0" tIns="0" rIns="0" bIns="0" rtlCol="0" anchor="ctr"/>
          <a:lstStyle/>
          <a:p>
            <a:pPr marL="0" indent="0">
              <a:buNone/>
            </a:pPr>
            <a:r>
              <a:rPr lang="en-US" sz="1600" b="1" dirty="0">
                <a:solidFill>
                  <a:srgbClr val="1B2433"/>
                </a:solidFill>
                <a:latin typeface="Cambria" pitchFamily="34" charset="0"/>
                <a:ea typeface="Cambria" pitchFamily="34" charset="-122"/>
                <a:cs typeface="Cambria" pitchFamily="34" charset="-120"/>
              </a:rPr>
              <a:t>Create surface</a:t>
            </a:r>
            <a:endParaRPr lang="en-US" sz="1600" dirty="0"/>
          </a:p>
        </p:txBody>
      </p:sp>
      <p:sp>
        <p:nvSpPr>
          <p:cNvPr id="28" name="Text 26"/>
          <p:cNvSpPr/>
          <p:nvPr/>
        </p:nvSpPr>
        <p:spPr>
          <a:xfrm>
            <a:off x="5303520" y="4169664"/>
            <a:ext cx="2560320" cy="594360"/>
          </a:xfrm>
          <a:prstGeom prst="rect">
            <a:avLst/>
          </a:prstGeom>
          <a:noFill/>
          <a:ln/>
        </p:spPr>
        <p:txBody>
          <a:bodyPr wrap="square" lIns="0" tIns="0" rIns="0" bIns="0" rtlCol="0" anchor="ctr"/>
          <a:lstStyle/>
          <a:p>
            <a:pPr marL="0" indent="0">
              <a:buNone/>
            </a:pPr>
            <a:r>
              <a:rPr lang="en-US" sz="1200" dirty="0">
                <a:solidFill>
                  <a:srgbClr val="64748B"/>
                </a:solidFill>
                <a:latin typeface="Calibri" pitchFamily="34" charset="0"/>
                <a:ea typeface="Calibri" pitchFamily="34" charset="-122"/>
                <a:cs typeface="Calibri" pitchFamily="34" charset="-120"/>
              </a:rPr>
              <a:t>Multi-Section Surface through the curves</a:t>
            </a:r>
            <a:endParaRPr lang="en-US" sz="1200" dirty="0"/>
          </a:p>
        </p:txBody>
      </p:sp>
      <p:sp>
        <p:nvSpPr>
          <p:cNvPr id="29" name="Shape 27"/>
          <p:cNvSpPr/>
          <p:nvPr/>
        </p:nvSpPr>
        <p:spPr>
          <a:xfrm>
            <a:off x="8229600" y="3566160"/>
            <a:ext cx="3566160" cy="1325880"/>
          </a:xfrm>
          <a:prstGeom prst="roundRect">
            <a:avLst>
              <a:gd name="adj" fmla="val 4828"/>
            </a:avLst>
          </a:prstGeom>
          <a:solidFill>
            <a:srgbClr val="F4F6F9"/>
          </a:solidFill>
          <a:ln/>
          <a:effectLst>
            <a:outerShdw blurRad="88900" dist="25400" dir="5400000" algn="bl" rotWithShape="0">
              <a:srgbClr val="000000">
                <a:alpha val="13000"/>
              </a:srgbClr>
            </a:outerShdw>
          </a:effectLst>
        </p:spPr>
      </p:sp>
      <p:sp>
        <p:nvSpPr>
          <p:cNvPr id="30" name="Shape 28"/>
          <p:cNvSpPr/>
          <p:nvPr/>
        </p:nvSpPr>
        <p:spPr>
          <a:xfrm>
            <a:off x="8430768" y="3822192"/>
            <a:ext cx="502920" cy="502920"/>
          </a:xfrm>
          <a:prstGeom prst="ellipse">
            <a:avLst/>
          </a:prstGeom>
          <a:solidFill>
            <a:srgbClr val="065A82"/>
          </a:solidFill>
          <a:ln/>
        </p:spPr>
      </p:sp>
      <p:sp>
        <p:nvSpPr>
          <p:cNvPr id="31" name="Text 29"/>
          <p:cNvSpPr/>
          <p:nvPr/>
        </p:nvSpPr>
        <p:spPr>
          <a:xfrm>
            <a:off x="8430768" y="3822192"/>
            <a:ext cx="502920" cy="502920"/>
          </a:xfrm>
          <a:prstGeom prst="rect">
            <a:avLst/>
          </a:prstGeom>
          <a:noFill/>
          <a:ln/>
        </p:spPr>
        <p:txBody>
          <a:bodyPr wrap="square"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6</a:t>
            </a:r>
            <a:endParaRPr lang="en-US" sz="2000" dirty="0"/>
          </a:p>
        </p:txBody>
      </p:sp>
      <p:sp>
        <p:nvSpPr>
          <p:cNvPr id="32" name="Text 30"/>
          <p:cNvSpPr/>
          <p:nvPr/>
        </p:nvSpPr>
        <p:spPr>
          <a:xfrm>
            <a:off x="9098280" y="3767328"/>
            <a:ext cx="2560320" cy="411480"/>
          </a:xfrm>
          <a:prstGeom prst="rect">
            <a:avLst/>
          </a:prstGeom>
          <a:noFill/>
          <a:ln/>
        </p:spPr>
        <p:txBody>
          <a:bodyPr wrap="square" lIns="0" tIns="0" rIns="0" bIns="0" rtlCol="0" anchor="ctr"/>
          <a:lstStyle/>
          <a:p>
            <a:pPr marL="0" indent="0">
              <a:buNone/>
            </a:pPr>
            <a:r>
              <a:rPr lang="en-US" sz="1600" b="1" dirty="0">
                <a:solidFill>
                  <a:srgbClr val="1B2433"/>
                </a:solidFill>
                <a:latin typeface="Cambria" pitchFamily="34" charset="0"/>
                <a:ea typeface="Cambria" pitchFamily="34" charset="-122"/>
                <a:cs typeface="Cambria" pitchFamily="34" charset="-120"/>
              </a:rPr>
              <a:t>Make solid</a:t>
            </a:r>
            <a:endParaRPr lang="en-US" sz="1600" dirty="0"/>
          </a:p>
        </p:txBody>
      </p:sp>
      <p:sp>
        <p:nvSpPr>
          <p:cNvPr id="33" name="Text 31"/>
          <p:cNvSpPr/>
          <p:nvPr/>
        </p:nvSpPr>
        <p:spPr>
          <a:xfrm>
            <a:off x="9098280" y="4169664"/>
            <a:ext cx="2560320" cy="594360"/>
          </a:xfrm>
          <a:prstGeom prst="rect">
            <a:avLst/>
          </a:prstGeom>
          <a:noFill/>
          <a:ln/>
        </p:spPr>
        <p:txBody>
          <a:bodyPr wrap="square" lIns="0" tIns="0" rIns="0" bIns="0" rtlCol="0" anchor="ctr"/>
          <a:lstStyle/>
          <a:p>
            <a:pPr marL="0" indent="0">
              <a:buNone/>
            </a:pPr>
            <a:r>
              <a:rPr lang="en-US" sz="1200" dirty="0">
                <a:solidFill>
                  <a:srgbClr val="64748B"/>
                </a:solidFill>
                <a:latin typeface="Calibri" pitchFamily="34" charset="0"/>
                <a:ea typeface="Calibri" pitchFamily="34" charset="-122"/>
                <a:cs typeface="Calibri" pitchFamily="34" charset="-120"/>
              </a:rPr>
              <a:t>Thick Surface (1 mm) → solid body</a:t>
            </a:r>
            <a:endParaRPr lang="en-US" sz="1200" dirty="0"/>
          </a:p>
        </p:txBody>
      </p:sp>
      <p:sp>
        <p:nvSpPr>
          <p:cNvPr id="34" name="Shape 32"/>
          <p:cNvSpPr/>
          <p:nvPr/>
        </p:nvSpPr>
        <p:spPr>
          <a:xfrm>
            <a:off x="640080" y="5120640"/>
            <a:ext cx="6451002" cy="1508760"/>
          </a:xfrm>
          <a:prstGeom prst="roundRect">
            <a:avLst>
              <a:gd name="adj" fmla="val 4828"/>
            </a:avLst>
          </a:prstGeom>
          <a:solidFill>
            <a:srgbClr val="F4F6F9"/>
          </a:solidFill>
          <a:ln/>
          <a:effectLst>
            <a:outerShdw blurRad="88900" dist="25400" dir="5400000" algn="bl" rotWithShape="0">
              <a:srgbClr val="000000">
                <a:alpha val="13000"/>
              </a:srgbClr>
            </a:outerShdw>
          </a:effectLst>
        </p:spPr>
      </p:sp>
      <p:sp>
        <p:nvSpPr>
          <p:cNvPr id="35" name="Shape 33"/>
          <p:cNvSpPr/>
          <p:nvPr/>
        </p:nvSpPr>
        <p:spPr>
          <a:xfrm>
            <a:off x="841248" y="5376672"/>
            <a:ext cx="502920" cy="502920"/>
          </a:xfrm>
          <a:prstGeom prst="ellipse">
            <a:avLst/>
          </a:prstGeom>
          <a:solidFill>
            <a:srgbClr val="065A82"/>
          </a:solidFill>
          <a:ln/>
        </p:spPr>
      </p:sp>
      <p:sp>
        <p:nvSpPr>
          <p:cNvPr id="36" name="Text 34"/>
          <p:cNvSpPr/>
          <p:nvPr/>
        </p:nvSpPr>
        <p:spPr>
          <a:xfrm>
            <a:off x="841248" y="5376672"/>
            <a:ext cx="502920" cy="502920"/>
          </a:xfrm>
          <a:prstGeom prst="rect">
            <a:avLst/>
          </a:prstGeom>
          <a:noFill/>
          <a:ln/>
        </p:spPr>
        <p:txBody>
          <a:bodyPr wrap="square"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7</a:t>
            </a:r>
            <a:endParaRPr lang="en-US" sz="2000" dirty="0"/>
          </a:p>
        </p:txBody>
      </p:sp>
      <p:sp>
        <p:nvSpPr>
          <p:cNvPr id="37" name="Text 35"/>
          <p:cNvSpPr/>
          <p:nvPr/>
        </p:nvSpPr>
        <p:spPr>
          <a:xfrm>
            <a:off x="1508760" y="5321808"/>
            <a:ext cx="2560320" cy="411480"/>
          </a:xfrm>
          <a:prstGeom prst="rect">
            <a:avLst/>
          </a:prstGeom>
          <a:noFill/>
          <a:ln/>
        </p:spPr>
        <p:txBody>
          <a:bodyPr wrap="square" lIns="0" tIns="0" rIns="0" bIns="0" rtlCol="0" anchor="ctr"/>
          <a:lstStyle/>
          <a:p>
            <a:pPr marL="0" indent="0">
              <a:buNone/>
            </a:pPr>
            <a:r>
              <a:rPr lang="en-US" sz="1600" b="1" dirty="0">
                <a:solidFill>
                  <a:srgbClr val="1B2433"/>
                </a:solidFill>
                <a:latin typeface="Cambria" pitchFamily="34" charset="0"/>
                <a:ea typeface="Cambria" pitchFamily="34" charset="-122"/>
                <a:cs typeface="Cambria" pitchFamily="34" charset="-120"/>
              </a:rPr>
              <a:t>Deviation check</a:t>
            </a:r>
            <a:endParaRPr lang="en-US" sz="1600" dirty="0"/>
          </a:p>
        </p:txBody>
      </p:sp>
      <p:sp>
        <p:nvSpPr>
          <p:cNvPr id="38" name="Text 36"/>
          <p:cNvSpPr/>
          <p:nvPr/>
        </p:nvSpPr>
        <p:spPr>
          <a:xfrm>
            <a:off x="1508760" y="5724144"/>
            <a:ext cx="2560320" cy="594360"/>
          </a:xfrm>
          <a:prstGeom prst="rect">
            <a:avLst/>
          </a:prstGeom>
          <a:noFill/>
          <a:ln/>
        </p:spPr>
        <p:txBody>
          <a:bodyPr wrap="square" lIns="0" tIns="0" rIns="0" bIns="0" rtlCol="0" anchor="ctr"/>
          <a:lstStyle/>
          <a:p>
            <a:pPr marL="0" indent="0">
              <a:buNone/>
            </a:pPr>
            <a:r>
              <a:rPr lang="en-US" sz="1200" dirty="0">
                <a:solidFill>
                  <a:srgbClr val="64748B"/>
                </a:solidFill>
                <a:latin typeface="Calibri" pitchFamily="34" charset="0"/>
                <a:ea typeface="Calibri" pitchFamily="34" charset="-122"/>
                <a:cs typeface="Calibri" pitchFamily="34" charset="-120"/>
              </a:rPr>
              <a:t>Compare surface vs scan: max ≈ 0.5 mm</a:t>
            </a:r>
            <a:endParaRPr lang="en-US" sz="1200" dirty="0"/>
          </a:p>
        </p:txBody>
      </p:sp>
      <p:sp>
        <p:nvSpPr>
          <p:cNvPr id="39" name="Text 37"/>
          <p:cNvSpPr/>
          <p:nvPr/>
        </p:nvSpPr>
        <p:spPr>
          <a:xfrm>
            <a:off x="640080" y="6172200"/>
            <a:ext cx="10972800" cy="457200"/>
          </a:xfrm>
          <a:prstGeom prst="rect">
            <a:avLst/>
          </a:prstGeom>
          <a:noFill/>
          <a:ln/>
        </p:spPr>
        <p:txBody>
          <a:bodyPr wrap="square" rtlCol="0" anchor="ctr"/>
          <a:lstStyle/>
          <a:p>
            <a:pPr marL="0" indent="0">
              <a:buNone/>
            </a:pPr>
            <a:r>
              <a:rPr lang="en-US" sz="1300" i="1" dirty="0">
                <a:solidFill>
                  <a:srgbClr val="1C7293"/>
                </a:solidFill>
                <a:latin typeface="Calibri" pitchFamily="34" charset="0"/>
                <a:ea typeface="Calibri" pitchFamily="34" charset="-122"/>
                <a:cs typeface="Calibri" pitchFamily="34" charset="-120"/>
              </a:rPr>
              <a:t>Commands deliberately avoided (not allowed): Power Fit · Automatic Surface · Curve on Mesh</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457200"/>
            <a:ext cx="566928" cy="566928"/>
          </a:xfrm>
          <a:prstGeom prst="ellipse">
            <a:avLst/>
          </a:prstGeom>
          <a:solidFill>
            <a:srgbClr val="1C7293"/>
          </a:solidFill>
          <a:ln/>
          <a:effectLst>
            <a:outerShdw blurRad="88900" dist="25400" dir="5400000" algn="bl" rotWithShape="0">
              <a:srgbClr val="000000">
                <a:alpha val="13000"/>
              </a:srgbClr>
            </a:outerShdw>
          </a:effectLst>
        </p:spPr>
      </p:sp>
      <p:sp>
        <p:nvSpPr>
          <p:cNvPr id="3" name="Text 1"/>
          <p:cNvSpPr/>
          <p:nvPr/>
        </p:nvSpPr>
        <p:spPr>
          <a:xfrm>
            <a:off x="640080" y="457200"/>
            <a:ext cx="566928" cy="566928"/>
          </a:xfrm>
          <a:prstGeom prst="rect">
            <a:avLst/>
          </a:prstGeom>
          <a:noFill/>
          <a:ln/>
        </p:spPr>
        <p:txBody>
          <a:bodyPr wrap="square" rtlCol="0" anchor="ctr"/>
          <a:lstStyle/>
          <a:p>
            <a:pPr marL="0" indent="0" algn="ctr">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4" name="Text 2"/>
          <p:cNvSpPr/>
          <p:nvPr/>
        </p:nvSpPr>
        <p:spPr>
          <a:xfrm>
            <a:off x="1371600" y="457200"/>
            <a:ext cx="10149840" cy="640080"/>
          </a:xfrm>
          <a:prstGeom prst="rect">
            <a:avLst/>
          </a:prstGeom>
          <a:noFill/>
          <a:ln/>
        </p:spPr>
        <p:txBody>
          <a:bodyPr wrap="square" lIns="0" tIns="0" rIns="0" bIns="0" rtlCol="0" anchor="ctr"/>
          <a:lstStyle/>
          <a:p>
            <a:pPr marL="0" indent="0">
              <a:buNone/>
            </a:pPr>
            <a:r>
              <a:rPr lang="en-US" sz="3000" b="1" dirty="0">
                <a:solidFill>
                  <a:srgbClr val="1B2433"/>
                </a:solidFill>
                <a:latin typeface="Cambria" pitchFamily="34" charset="0"/>
                <a:ea typeface="Cambria" pitchFamily="34" charset="-122"/>
                <a:cs typeface="Cambria" pitchFamily="34" charset="-120"/>
              </a:rPr>
              <a:t>Importing the Mesh</a:t>
            </a:r>
            <a:endParaRPr lang="en-US" sz="3000" dirty="0"/>
          </a:p>
        </p:txBody>
      </p:sp>
      <p:sp>
        <p:nvSpPr>
          <p:cNvPr id="7" name="Text 5"/>
          <p:cNvSpPr/>
          <p:nvPr/>
        </p:nvSpPr>
        <p:spPr>
          <a:xfrm>
            <a:off x="575534" y="1531620"/>
            <a:ext cx="10881360" cy="320040"/>
          </a:xfrm>
          <a:prstGeom prst="rect">
            <a:avLst/>
          </a:prstGeom>
          <a:noFill/>
          <a:ln/>
        </p:spPr>
        <p:txBody>
          <a:bodyPr wrap="square" lIns="0" tIns="0" rIns="0" bIns="0" rtlCol="0" anchor="ctr"/>
          <a:lstStyle/>
          <a:p>
            <a:pPr marL="0" indent="0">
              <a:buNone/>
            </a:pPr>
            <a:r>
              <a:rPr lang="en-US" sz="1700" b="1" dirty="0">
                <a:solidFill>
                  <a:srgbClr val="065A82"/>
                </a:solidFill>
                <a:latin typeface="Cambria" pitchFamily="34" charset="0"/>
                <a:ea typeface="Cambria" pitchFamily="34" charset="-122"/>
                <a:cs typeface="Cambria" pitchFamily="34" charset="-120"/>
              </a:rPr>
              <a:t>What I did</a:t>
            </a:r>
            <a:endParaRPr lang="en-US" sz="1700" dirty="0"/>
          </a:p>
        </p:txBody>
      </p:sp>
      <p:sp>
        <p:nvSpPr>
          <p:cNvPr id="8" name="Text 6"/>
          <p:cNvSpPr/>
          <p:nvPr/>
        </p:nvSpPr>
        <p:spPr>
          <a:xfrm>
            <a:off x="391757" y="2095051"/>
            <a:ext cx="11010452" cy="2062779"/>
          </a:xfrm>
          <a:prstGeom prst="rect">
            <a:avLst/>
          </a:prstGeom>
          <a:noFill/>
          <a:ln/>
        </p:spPr>
        <p:txBody>
          <a:bodyPr wrap="square" rtlCol="0" anchor="ctr"/>
          <a:lstStyle/>
          <a:p>
            <a:pPr marL="342900" indent="-342900">
              <a:spcAft>
                <a:spcPts val="800"/>
              </a:spcAft>
              <a:buSzPct val="100000"/>
              <a:buChar char="•"/>
            </a:pPr>
            <a:r>
              <a:rPr lang="en-US" sz="1350" dirty="0">
                <a:solidFill>
                  <a:srgbClr val="1B2433"/>
                </a:solidFill>
                <a:latin typeface="Calibri" pitchFamily="34" charset="0"/>
                <a:ea typeface="Calibri" pitchFamily="34" charset="-122"/>
                <a:cs typeface="Calibri" pitchFamily="34" charset="-120"/>
              </a:rPr>
              <a:t>Switched to Digitized Shape Editor</a:t>
            </a:r>
            <a:endParaRPr lang="en-US" sz="1350" dirty="0"/>
          </a:p>
          <a:p>
            <a:pPr marL="342900" indent="-342900">
              <a:spcAft>
                <a:spcPts val="800"/>
              </a:spcAft>
              <a:buSzPct val="100000"/>
              <a:buChar char="•"/>
            </a:pPr>
            <a:r>
              <a:rPr lang="en-US" sz="1350" dirty="0">
                <a:solidFill>
                  <a:srgbClr val="1B2433"/>
                </a:solidFill>
                <a:latin typeface="Calibri" pitchFamily="34" charset="0"/>
                <a:ea typeface="Calibri" pitchFamily="34" charset="-122"/>
                <a:cs typeface="Calibri" pitchFamily="34" charset="-120"/>
              </a:rPr>
              <a:t>Insert &gt; Import, format STL, units mm</a:t>
            </a:r>
            <a:endParaRPr lang="en-US" sz="1350" dirty="0"/>
          </a:p>
          <a:p>
            <a:pPr marL="342900" indent="-342900">
              <a:spcAft>
                <a:spcPts val="800"/>
              </a:spcAft>
              <a:buSzPct val="100000"/>
              <a:buChar char="•"/>
            </a:pPr>
            <a:r>
              <a:rPr lang="en-US" sz="1350" dirty="0">
                <a:solidFill>
                  <a:srgbClr val="1B2433"/>
                </a:solidFill>
                <a:latin typeface="Calibri" pitchFamily="34" charset="0"/>
                <a:ea typeface="Calibri" pitchFamily="34" charset="-122"/>
                <a:cs typeface="Calibri" pitchFamily="34" charset="-120"/>
              </a:rPr>
              <a:t>Scan imported at correct real-world size (~1236 mm long)</a:t>
            </a:r>
            <a:endParaRPr lang="en-US" sz="1350" dirty="0"/>
          </a:p>
          <a:p>
            <a:pPr marL="342900" indent="-342900">
              <a:spcAft>
                <a:spcPts val="800"/>
              </a:spcAft>
              <a:buSzPct val="100000"/>
              <a:buChar char="•"/>
            </a:pPr>
            <a:r>
              <a:rPr lang="en-US" sz="1350" dirty="0">
                <a:solidFill>
                  <a:srgbClr val="1B2433"/>
                </a:solidFill>
                <a:latin typeface="Calibri" pitchFamily="34" charset="0"/>
                <a:ea typeface="Calibri" pitchFamily="34" charset="-122"/>
                <a:cs typeface="Calibri" pitchFamily="34" charset="-120"/>
              </a:rPr>
              <a:t>Mesh appears as a feature in the specification tree</a:t>
            </a:r>
            <a:endParaRPr lang="en-US" sz="1350" dirty="0"/>
          </a:p>
        </p:txBody>
      </p:sp>
      <p:sp>
        <p:nvSpPr>
          <p:cNvPr id="9" name="Shape 7"/>
          <p:cNvSpPr/>
          <p:nvPr/>
        </p:nvSpPr>
        <p:spPr>
          <a:xfrm>
            <a:off x="627529" y="4401222"/>
            <a:ext cx="10881360" cy="1504278"/>
          </a:xfrm>
          <a:prstGeom prst="roundRect">
            <a:avLst>
              <a:gd name="adj" fmla="val 3871"/>
            </a:avLst>
          </a:prstGeom>
          <a:solidFill>
            <a:srgbClr val="F4F6F9"/>
          </a:solidFill>
          <a:ln/>
          <a:effectLst>
            <a:outerShdw blurRad="88900" dist="25400" dir="5400000" algn="bl" rotWithShape="0">
              <a:srgbClr val="000000">
                <a:alpha val="13000"/>
              </a:srgbClr>
            </a:outerShdw>
          </a:effectLst>
        </p:spPr>
        <p:txBody>
          <a:bodyPr/>
          <a:lstStyle/>
          <a:p>
            <a:endParaRPr lang="en-US"/>
          </a:p>
        </p:txBody>
      </p:sp>
      <p:sp>
        <p:nvSpPr>
          <p:cNvPr id="10" name="Text 8"/>
          <p:cNvSpPr/>
          <p:nvPr/>
        </p:nvSpPr>
        <p:spPr>
          <a:xfrm>
            <a:off x="825649" y="4508351"/>
            <a:ext cx="10540701" cy="320040"/>
          </a:xfrm>
          <a:prstGeom prst="rect">
            <a:avLst/>
          </a:prstGeom>
          <a:noFill/>
          <a:ln/>
        </p:spPr>
        <p:txBody>
          <a:bodyPr wrap="square" lIns="0" tIns="0" rIns="0" bIns="0" rtlCol="0" anchor="ctr"/>
          <a:lstStyle/>
          <a:p>
            <a:pPr marL="0" indent="0">
              <a:buNone/>
            </a:pPr>
            <a:r>
              <a:rPr lang="en-US" sz="1300" b="1" dirty="0">
                <a:solidFill>
                  <a:srgbClr val="1C7293"/>
                </a:solidFill>
                <a:latin typeface="Cambria" pitchFamily="34" charset="0"/>
                <a:ea typeface="Cambria" pitchFamily="34" charset="-122"/>
                <a:cs typeface="Cambria" pitchFamily="34" charset="-120"/>
              </a:rPr>
              <a:t>Commands used</a:t>
            </a:r>
            <a:endParaRPr lang="en-US" sz="1300" dirty="0"/>
          </a:p>
        </p:txBody>
      </p:sp>
      <p:sp>
        <p:nvSpPr>
          <p:cNvPr id="11" name="Text 9"/>
          <p:cNvSpPr/>
          <p:nvPr/>
        </p:nvSpPr>
        <p:spPr>
          <a:xfrm>
            <a:off x="734209" y="4818530"/>
            <a:ext cx="10668000" cy="822960"/>
          </a:xfrm>
          <a:prstGeom prst="rect">
            <a:avLst/>
          </a:prstGeom>
          <a:noFill/>
          <a:ln/>
        </p:spPr>
        <p:txBody>
          <a:bodyPr wrap="square" lIns="0" tIns="0" rIns="0" bIns="0" rtlCol="0" anchor="ctr"/>
          <a:lstStyle/>
          <a:p>
            <a:pPr marL="0" indent="0">
              <a:buNone/>
            </a:pPr>
            <a:r>
              <a:rPr lang="en-US" sz="1250" dirty="0">
                <a:solidFill>
                  <a:srgbClr val="1B2433"/>
                </a:solidFill>
                <a:latin typeface="Calibri" pitchFamily="34" charset="0"/>
                <a:ea typeface="Calibri" pitchFamily="34" charset="-122"/>
                <a:cs typeface="Calibri" pitchFamily="34" charset="-120"/>
              </a:rPr>
              <a:t>Start &gt; Shape &gt; Digitized Shape Editor → Insert &gt; Import</a:t>
            </a:r>
            <a:endParaRPr lang="en-US" sz="12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457200"/>
            <a:ext cx="566928" cy="566928"/>
          </a:xfrm>
          <a:prstGeom prst="ellipse">
            <a:avLst/>
          </a:prstGeom>
          <a:solidFill>
            <a:srgbClr val="1C7293"/>
          </a:solidFill>
          <a:ln/>
          <a:effectLst>
            <a:outerShdw blurRad="88900" dist="25400" dir="5400000" algn="bl" rotWithShape="0">
              <a:srgbClr val="000000">
                <a:alpha val="13000"/>
              </a:srgbClr>
            </a:outerShdw>
          </a:effectLst>
        </p:spPr>
      </p:sp>
      <p:sp>
        <p:nvSpPr>
          <p:cNvPr id="3" name="Text 1"/>
          <p:cNvSpPr/>
          <p:nvPr/>
        </p:nvSpPr>
        <p:spPr>
          <a:xfrm>
            <a:off x="640080" y="457200"/>
            <a:ext cx="566928" cy="566928"/>
          </a:xfrm>
          <a:prstGeom prst="rect">
            <a:avLst/>
          </a:prstGeom>
          <a:noFill/>
          <a:ln/>
        </p:spPr>
        <p:txBody>
          <a:bodyPr wrap="square" rtlCol="0" anchor="ctr"/>
          <a:lstStyle/>
          <a:p>
            <a:pPr marL="0" indent="0" algn="ctr">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4" name="Text 2"/>
          <p:cNvSpPr/>
          <p:nvPr/>
        </p:nvSpPr>
        <p:spPr>
          <a:xfrm>
            <a:off x="1371600" y="457200"/>
            <a:ext cx="10149840" cy="640080"/>
          </a:xfrm>
          <a:prstGeom prst="rect">
            <a:avLst/>
          </a:prstGeom>
          <a:noFill/>
          <a:ln/>
        </p:spPr>
        <p:txBody>
          <a:bodyPr wrap="square" lIns="0" tIns="0" rIns="0" bIns="0" rtlCol="0" anchor="ctr"/>
          <a:lstStyle/>
          <a:p>
            <a:pPr marL="0" indent="0">
              <a:buNone/>
            </a:pPr>
            <a:r>
              <a:rPr lang="en-US" sz="3000" b="1" dirty="0">
                <a:solidFill>
                  <a:srgbClr val="1B2433"/>
                </a:solidFill>
                <a:latin typeface="Cambria" pitchFamily="34" charset="0"/>
                <a:ea typeface="Cambria" pitchFamily="34" charset="-122"/>
                <a:cs typeface="Cambria" pitchFamily="34" charset="-120"/>
              </a:rPr>
              <a:t>Mesh Inspection — No Cleaning Needed</a:t>
            </a:r>
            <a:endParaRPr lang="en-US" sz="3000" dirty="0"/>
          </a:p>
        </p:txBody>
      </p:sp>
      <p:sp>
        <p:nvSpPr>
          <p:cNvPr id="7" name="Text 5"/>
          <p:cNvSpPr/>
          <p:nvPr/>
        </p:nvSpPr>
        <p:spPr>
          <a:xfrm>
            <a:off x="546847" y="1463040"/>
            <a:ext cx="10974593" cy="338328"/>
          </a:xfrm>
          <a:prstGeom prst="rect">
            <a:avLst/>
          </a:prstGeom>
          <a:noFill/>
          <a:ln/>
        </p:spPr>
        <p:txBody>
          <a:bodyPr wrap="square" lIns="0" tIns="0" rIns="0" bIns="0" rtlCol="0" anchor="ctr"/>
          <a:lstStyle/>
          <a:p>
            <a:pPr marL="0" indent="0">
              <a:buNone/>
            </a:pPr>
            <a:r>
              <a:rPr lang="en-US" sz="1700" b="1" dirty="0">
                <a:solidFill>
                  <a:srgbClr val="065A82"/>
                </a:solidFill>
                <a:latin typeface="Cambria" pitchFamily="34" charset="0"/>
                <a:ea typeface="Cambria" pitchFamily="34" charset="-122"/>
                <a:cs typeface="Cambria" pitchFamily="34" charset="-120"/>
              </a:rPr>
              <a:t>What I did</a:t>
            </a:r>
            <a:endParaRPr lang="en-US" sz="1700" dirty="0"/>
          </a:p>
        </p:txBody>
      </p:sp>
      <p:sp>
        <p:nvSpPr>
          <p:cNvPr id="8" name="Text 6"/>
          <p:cNvSpPr/>
          <p:nvPr/>
        </p:nvSpPr>
        <p:spPr>
          <a:xfrm>
            <a:off x="277905" y="2057400"/>
            <a:ext cx="10974594" cy="2290482"/>
          </a:xfrm>
          <a:prstGeom prst="rect">
            <a:avLst/>
          </a:prstGeom>
          <a:noFill/>
          <a:ln/>
        </p:spPr>
        <p:txBody>
          <a:bodyPr wrap="square" rtlCol="0" anchor="ctr"/>
          <a:lstStyle/>
          <a:p>
            <a:pPr marL="342900" indent="-342900">
              <a:spcAft>
                <a:spcPts val="800"/>
              </a:spcAft>
              <a:buSzPct val="100000"/>
              <a:buChar char="•"/>
            </a:pPr>
            <a:r>
              <a:rPr lang="en-US" sz="1350" dirty="0">
                <a:solidFill>
                  <a:srgbClr val="1B2433"/>
                </a:solidFill>
                <a:latin typeface="Calibri" pitchFamily="34" charset="0"/>
                <a:ea typeface="Calibri" pitchFamily="34" charset="-122"/>
                <a:cs typeface="Calibri" pitchFamily="34" charset="-120"/>
              </a:rPr>
              <a:t>Inspected the mesh for defects before surfacing</a:t>
            </a:r>
            <a:endParaRPr lang="en-US" sz="1350" dirty="0"/>
          </a:p>
          <a:p>
            <a:pPr marL="342900" indent="-342900">
              <a:spcAft>
                <a:spcPts val="800"/>
              </a:spcAft>
              <a:buSzPct val="100000"/>
              <a:buChar char="•"/>
            </a:pPr>
            <a:r>
              <a:rPr lang="en-US" sz="1350" dirty="0">
                <a:solidFill>
                  <a:srgbClr val="1B2433"/>
                </a:solidFill>
                <a:latin typeface="Calibri" pitchFamily="34" charset="0"/>
                <a:ea typeface="Calibri" pitchFamily="34" charset="-122"/>
                <a:cs typeface="Calibri" pitchFamily="34" charset="-120"/>
              </a:rPr>
              <a:t>Single connected body — no floating/stray triangles</a:t>
            </a:r>
            <a:endParaRPr lang="en-US" sz="1350" dirty="0"/>
          </a:p>
          <a:p>
            <a:pPr marL="342900" indent="-342900">
              <a:spcAft>
                <a:spcPts val="800"/>
              </a:spcAft>
              <a:buSzPct val="100000"/>
              <a:buChar char="•"/>
            </a:pPr>
            <a:r>
              <a:rPr lang="en-US" sz="1350" dirty="0">
                <a:solidFill>
                  <a:srgbClr val="1B2433"/>
                </a:solidFill>
                <a:latin typeface="Calibri" pitchFamily="34" charset="0"/>
                <a:ea typeface="Calibri" pitchFamily="34" charset="-122"/>
                <a:cs typeface="Calibri" pitchFamily="34" charset="-120"/>
              </a:rPr>
              <a:t>No non-manifold edges, no duplicate or degenerate faces</a:t>
            </a:r>
            <a:endParaRPr lang="en-US" sz="1350" dirty="0"/>
          </a:p>
          <a:p>
            <a:pPr marL="342900" indent="-342900">
              <a:spcAft>
                <a:spcPts val="800"/>
              </a:spcAft>
              <a:buSzPct val="100000"/>
              <a:buChar char="•"/>
            </a:pPr>
            <a:r>
              <a:rPr lang="en-US" sz="1350" dirty="0">
                <a:solidFill>
                  <a:srgbClr val="1B2433"/>
                </a:solidFill>
                <a:latin typeface="Calibri" pitchFamily="34" charset="0"/>
                <a:ea typeface="Calibri" pitchFamily="34" charset="-122"/>
                <a:cs typeface="Calibri" pitchFamily="34" charset="-120"/>
              </a:rPr>
              <a:t>Open outer boundary is expected (single-skin panel)</a:t>
            </a:r>
            <a:endParaRPr lang="en-US" sz="1350" dirty="0"/>
          </a:p>
          <a:p>
            <a:pPr marL="342900" indent="-342900">
              <a:spcAft>
                <a:spcPts val="800"/>
              </a:spcAft>
              <a:buSzPct val="100000"/>
              <a:buChar char="•"/>
            </a:pPr>
            <a:r>
              <a:rPr lang="en-US" sz="1350" dirty="0">
                <a:solidFill>
                  <a:srgbClr val="1B2433"/>
                </a:solidFill>
                <a:latin typeface="Calibri" pitchFamily="34" charset="0"/>
                <a:ea typeface="Calibri" pitchFamily="34" charset="-122"/>
                <a:cs typeface="Calibri" pitchFamily="34" charset="-120"/>
              </a:rPr>
              <a:t>Conclusion: no cleaning required → budget folds into surfaces</a:t>
            </a:r>
            <a:endParaRPr lang="en-US" sz="1350" dirty="0"/>
          </a:p>
        </p:txBody>
      </p:sp>
      <p:sp>
        <p:nvSpPr>
          <p:cNvPr id="9" name="Shape 7"/>
          <p:cNvSpPr/>
          <p:nvPr/>
        </p:nvSpPr>
        <p:spPr>
          <a:xfrm>
            <a:off x="466165" y="4686300"/>
            <a:ext cx="3703320" cy="1417320"/>
          </a:xfrm>
          <a:prstGeom prst="roundRect">
            <a:avLst>
              <a:gd name="adj" fmla="val 3871"/>
            </a:avLst>
          </a:prstGeom>
          <a:solidFill>
            <a:srgbClr val="F4F6F9"/>
          </a:solidFill>
          <a:ln/>
          <a:effectLst>
            <a:outerShdw blurRad="88900" dist="25400" dir="5400000" algn="bl" rotWithShape="0">
              <a:srgbClr val="000000">
                <a:alpha val="13000"/>
              </a:srgbClr>
            </a:outerShdw>
          </a:effectLst>
        </p:spPr>
      </p:sp>
      <p:sp>
        <p:nvSpPr>
          <p:cNvPr id="10" name="Text 8"/>
          <p:cNvSpPr/>
          <p:nvPr/>
        </p:nvSpPr>
        <p:spPr>
          <a:xfrm>
            <a:off x="586292" y="4937760"/>
            <a:ext cx="3337560" cy="320040"/>
          </a:xfrm>
          <a:prstGeom prst="rect">
            <a:avLst/>
          </a:prstGeom>
          <a:noFill/>
          <a:ln/>
        </p:spPr>
        <p:txBody>
          <a:bodyPr wrap="square" lIns="0" tIns="0" rIns="0" bIns="0" rtlCol="0" anchor="ctr"/>
          <a:lstStyle/>
          <a:p>
            <a:pPr marL="0" indent="0">
              <a:buNone/>
            </a:pPr>
            <a:r>
              <a:rPr lang="en-US" sz="1300" b="1" dirty="0">
                <a:solidFill>
                  <a:srgbClr val="1C7293"/>
                </a:solidFill>
                <a:latin typeface="Cambria" pitchFamily="34" charset="0"/>
                <a:ea typeface="Cambria" pitchFamily="34" charset="-122"/>
                <a:cs typeface="Cambria" pitchFamily="34" charset="-120"/>
              </a:rPr>
              <a:t>Commands used</a:t>
            </a:r>
            <a:endParaRPr lang="en-US" sz="1300" dirty="0"/>
          </a:p>
        </p:txBody>
      </p:sp>
      <p:sp>
        <p:nvSpPr>
          <p:cNvPr id="11" name="Text 9"/>
          <p:cNvSpPr/>
          <p:nvPr/>
        </p:nvSpPr>
        <p:spPr>
          <a:xfrm>
            <a:off x="586292" y="5113916"/>
            <a:ext cx="3337560" cy="822960"/>
          </a:xfrm>
          <a:prstGeom prst="rect">
            <a:avLst/>
          </a:prstGeom>
          <a:noFill/>
          <a:ln/>
        </p:spPr>
        <p:txBody>
          <a:bodyPr wrap="square" lIns="0" tIns="0" rIns="0" bIns="0" rtlCol="0" anchor="ctr"/>
          <a:lstStyle/>
          <a:p>
            <a:pPr marL="0" indent="0">
              <a:buNone/>
            </a:pPr>
            <a:r>
              <a:rPr lang="en-US" sz="1250" dirty="0">
                <a:solidFill>
                  <a:srgbClr val="1B2433"/>
                </a:solidFill>
                <a:latin typeface="Calibri" pitchFamily="34" charset="0"/>
                <a:ea typeface="Calibri" pitchFamily="34" charset="-122"/>
                <a:cs typeface="Calibri" pitchFamily="34" charset="-120"/>
              </a:rPr>
              <a:t>Visual inspection (Mesh tools available if needed)</a:t>
            </a:r>
            <a:endParaRPr lang="en-US" sz="12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457200"/>
            <a:ext cx="566928" cy="566928"/>
          </a:xfrm>
          <a:prstGeom prst="ellipse">
            <a:avLst/>
          </a:prstGeom>
          <a:solidFill>
            <a:srgbClr val="1C7293"/>
          </a:solidFill>
          <a:ln/>
          <a:effectLst>
            <a:outerShdw blurRad="88900" dist="25400" dir="5400000" algn="bl" rotWithShape="0">
              <a:srgbClr val="000000">
                <a:alpha val="13000"/>
              </a:srgbClr>
            </a:outerShdw>
          </a:effectLst>
        </p:spPr>
      </p:sp>
      <p:sp>
        <p:nvSpPr>
          <p:cNvPr id="3" name="Text 1"/>
          <p:cNvSpPr/>
          <p:nvPr/>
        </p:nvSpPr>
        <p:spPr>
          <a:xfrm>
            <a:off x="640080" y="457200"/>
            <a:ext cx="566928" cy="566928"/>
          </a:xfrm>
          <a:prstGeom prst="rect">
            <a:avLst/>
          </a:prstGeom>
          <a:noFill/>
          <a:ln/>
        </p:spPr>
        <p:txBody>
          <a:bodyPr wrap="square" rtlCol="0" anchor="ctr"/>
          <a:lstStyle/>
          <a:p>
            <a:pPr marL="0" indent="0" algn="ctr">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4" name="Text 2"/>
          <p:cNvSpPr/>
          <p:nvPr/>
        </p:nvSpPr>
        <p:spPr>
          <a:xfrm>
            <a:off x="1371600" y="457200"/>
            <a:ext cx="10149840" cy="640080"/>
          </a:xfrm>
          <a:prstGeom prst="rect">
            <a:avLst/>
          </a:prstGeom>
          <a:noFill/>
          <a:ln/>
        </p:spPr>
        <p:txBody>
          <a:bodyPr wrap="square" lIns="0" tIns="0" rIns="0" bIns="0" rtlCol="0" anchor="ctr"/>
          <a:lstStyle/>
          <a:p>
            <a:pPr marL="0" indent="0">
              <a:buNone/>
            </a:pPr>
            <a:r>
              <a:rPr lang="en-US" sz="3000" b="1" dirty="0">
                <a:solidFill>
                  <a:srgbClr val="1B2433"/>
                </a:solidFill>
                <a:latin typeface="Cambria" pitchFamily="34" charset="0"/>
                <a:ea typeface="Cambria" pitchFamily="34" charset="-122"/>
                <a:cs typeface="Cambria" pitchFamily="34" charset="-120"/>
              </a:rPr>
              <a:t>Aligning the Mesh to the Planes</a:t>
            </a:r>
            <a:endParaRPr lang="en-US" sz="3000" dirty="0"/>
          </a:p>
        </p:txBody>
      </p:sp>
      <p:sp>
        <p:nvSpPr>
          <p:cNvPr id="7" name="Text 5"/>
          <p:cNvSpPr/>
          <p:nvPr/>
        </p:nvSpPr>
        <p:spPr>
          <a:xfrm>
            <a:off x="748553" y="1319695"/>
            <a:ext cx="3703320" cy="365760"/>
          </a:xfrm>
          <a:prstGeom prst="rect">
            <a:avLst/>
          </a:prstGeom>
          <a:noFill/>
          <a:ln/>
        </p:spPr>
        <p:txBody>
          <a:bodyPr wrap="square" lIns="0" tIns="0" rIns="0" bIns="0" rtlCol="0" anchor="ctr"/>
          <a:lstStyle/>
          <a:p>
            <a:pPr marL="0" indent="0">
              <a:buNone/>
            </a:pPr>
            <a:r>
              <a:rPr lang="en-US" sz="1700" b="1" dirty="0">
                <a:solidFill>
                  <a:srgbClr val="065A82"/>
                </a:solidFill>
                <a:latin typeface="Cambria" pitchFamily="34" charset="0"/>
                <a:ea typeface="Cambria" pitchFamily="34" charset="-122"/>
                <a:cs typeface="Cambria" pitchFamily="34" charset="-120"/>
              </a:rPr>
              <a:t>What I did</a:t>
            </a:r>
            <a:endParaRPr lang="en-US" sz="1700" dirty="0"/>
          </a:p>
        </p:txBody>
      </p:sp>
      <p:sp>
        <p:nvSpPr>
          <p:cNvPr id="8" name="Text 6"/>
          <p:cNvSpPr/>
          <p:nvPr/>
        </p:nvSpPr>
        <p:spPr>
          <a:xfrm>
            <a:off x="640080" y="1875416"/>
            <a:ext cx="3703320" cy="2743200"/>
          </a:xfrm>
          <a:prstGeom prst="rect">
            <a:avLst/>
          </a:prstGeom>
          <a:noFill/>
          <a:ln/>
        </p:spPr>
        <p:txBody>
          <a:bodyPr wrap="square" rtlCol="0" anchor="ctr"/>
          <a:lstStyle/>
          <a:p>
            <a:pPr marL="342900" indent="-342900">
              <a:spcAft>
                <a:spcPts val="800"/>
              </a:spcAft>
              <a:buSzPct val="100000"/>
              <a:buChar char="•"/>
            </a:pPr>
            <a:r>
              <a:rPr lang="en-US" sz="1350" dirty="0">
                <a:solidFill>
                  <a:srgbClr val="1B2433"/>
                </a:solidFill>
                <a:latin typeface="Calibri" pitchFamily="34" charset="0"/>
                <a:ea typeface="Calibri" pitchFamily="34" charset="-122"/>
                <a:cs typeface="Calibri" pitchFamily="34" charset="-120"/>
              </a:rPr>
              <a:t>Goal: place the panel logically on the system planes</a:t>
            </a:r>
            <a:endParaRPr lang="en-US" sz="1350" dirty="0"/>
          </a:p>
          <a:p>
            <a:pPr marL="342900" indent="-342900">
              <a:spcAft>
                <a:spcPts val="800"/>
              </a:spcAft>
              <a:buSzPct val="100000"/>
              <a:buChar char="•"/>
            </a:pPr>
            <a:r>
              <a:rPr lang="en-US" sz="1350" dirty="0">
                <a:solidFill>
                  <a:srgbClr val="1B2433"/>
                </a:solidFill>
                <a:latin typeface="Calibri" pitchFamily="34" charset="0"/>
                <a:ea typeface="Calibri" pitchFamily="34" charset="-122"/>
                <a:cs typeface="Calibri" pitchFamily="34" charset="-120"/>
              </a:rPr>
              <a:t>Rotated 40° about the Y axis to lay the panel flat</a:t>
            </a:r>
            <a:endParaRPr lang="en-US" sz="1350" dirty="0"/>
          </a:p>
          <a:p>
            <a:pPr marL="342900" indent="-342900">
              <a:spcAft>
                <a:spcPts val="800"/>
              </a:spcAft>
              <a:buSzPct val="100000"/>
              <a:buChar char="•"/>
            </a:pPr>
            <a:r>
              <a:rPr lang="en-US" sz="1350" dirty="0">
                <a:solidFill>
                  <a:srgbClr val="1B2433"/>
                </a:solidFill>
                <a:latin typeface="Calibri" pitchFamily="34" charset="0"/>
                <a:ea typeface="Calibri" pitchFamily="34" charset="-122"/>
                <a:cs typeface="Calibri" pitchFamily="34" charset="-120"/>
              </a:rPr>
              <a:t>Translated by (-24, -10, +127) mm to center on the origin</a:t>
            </a:r>
            <a:endParaRPr lang="en-US" sz="1350" dirty="0"/>
          </a:p>
          <a:p>
            <a:pPr marL="342900" indent="-342900">
              <a:spcAft>
                <a:spcPts val="800"/>
              </a:spcAft>
              <a:buSzPct val="100000"/>
              <a:buChar char="•"/>
            </a:pPr>
            <a:r>
              <a:rPr lang="en-US" sz="1350" dirty="0">
                <a:solidFill>
                  <a:srgbClr val="1B2433"/>
                </a:solidFill>
                <a:latin typeface="Calibri" pitchFamily="34" charset="0"/>
                <a:ea typeface="Calibri" pitchFamily="34" charset="-122"/>
                <a:cs typeface="Calibri" pitchFamily="34" charset="-120"/>
              </a:rPr>
              <a:t>Symmetry plane aligned to the yz plane</a:t>
            </a:r>
            <a:endParaRPr lang="en-US" sz="1350" dirty="0"/>
          </a:p>
          <a:p>
            <a:pPr marL="342900" indent="-342900">
              <a:spcAft>
                <a:spcPts val="800"/>
              </a:spcAft>
              <a:buSzPct val="100000"/>
              <a:buChar char="•"/>
            </a:pPr>
            <a:r>
              <a:rPr lang="en-US" sz="1350" dirty="0">
                <a:solidFill>
                  <a:srgbClr val="1B2433"/>
                </a:solidFill>
                <a:latin typeface="Calibri" pitchFamily="34" charset="0"/>
                <a:ea typeface="Calibri" pitchFamily="34" charset="-122"/>
                <a:cs typeface="Calibri" pitchFamily="34" charset="-120"/>
              </a:rPr>
              <a:t>Kept only the final transformed mesh visible (hid intermediates)</a:t>
            </a:r>
            <a:endParaRPr lang="en-US" sz="1350" dirty="0"/>
          </a:p>
        </p:txBody>
      </p:sp>
      <p:sp>
        <p:nvSpPr>
          <p:cNvPr id="9" name="Shape 7"/>
          <p:cNvSpPr/>
          <p:nvPr/>
        </p:nvSpPr>
        <p:spPr>
          <a:xfrm>
            <a:off x="565673" y="5009478"/>
            <a:ext cx="3703320" cy="1417320"/>
          </a:xfrm>
          <a:prstGeom prst="roundRect">
            <a:avLst>
              <a:gd name="adj" fmla="val 3871"/>
            </a:avLst>
          </a:prstGeom>
          <a:solidFill>
            <a:srgbClr val="F4F6F9"/>
          </a:solidFill>
          <a:ln/>
          <a:effectLst>
            <a:outerShdw blurRad="88900" dist="25400" dir="5400000" algn="bl" rotWithShape="0">
              <a:srgbClr val="000000">
                <a:alpha val="13000"/>
              </a:srgbClr>
            </a:outerShdw>
          </a:effectLst>
        </p:spPr>
      </p:sp>
      <p:sp>
        <p:nvSpPr>
          <p:cNvPr id="10" name="Text 8"/>
          <p:cNvSpPr/>
          <p:nvPr/>
        </p:nvSpPr>
        <p:spPr>
          <a:xfrm>
            <a:off x="748553" y="5149864"/>
            <a:ext cx="3337560" cy="320040"/>
          </a:xfrm>
          <a:prstGeom prst="rect">
            <a:avLst/>
          </a:prstGeom>
          <a:noFill/>
          <a:ln/>
        </p:spPr>
        <p:txBody>
          <a:bodyPr wrap="square" lIns="0" tIns="0" rIns="0" bIns="0" rtlCol="0" anchor="ctr"/>
          <a:lstStyle/>
          <a:p>
            <a:pPr marL="0" indent="0">
              <a:buNone/>
            </a:pPr>
            <a:r>
              <a:rPr lang="en-US" sz="1300" b="1" dirty="0">
                <a:solidFill>
                  <a:srgbClr val="1C7293"/>
                </a:solidFill>
                <a:latin typeface="Cambria" pitchFamily="34" charset="0"/>
                <a:ea typeface="Cambria" pitchFamily="34" charset="-122"/>
                <a:cs typeface="Cambria" pitchFamily="34" charset="-120"/>
              </a:rPr>
              <a:t>Commands used</a:t>
            </a:r>
            <a:endParaRPr lang="en-US" sz="1300" dirty="0"/>
          </a:p>
        </p:txBody>
      </p:sp>
      <p:sp>
        <p:nvSpPr>
          <p:cNvPr id="11" name="Text 9"/>
          <p:cNvSpPr/>
          <p:nvPr/>
        </p:nvSpPr>
        <p:spPr>
          <a:xfrm>
            <a:off x="640080" y="5394960"/>
            <a:ext cx="3337560" cy="822960"/>
          </a:xfrm>
          <a:prstGeom prst="rect">
            <a:avLst/>
          </a:prstGeom>
          <a:noFill/>
          <a:ln/>
        </p:spPr>
        <p:txBody>
          <a:bodyPr wrap="square" lIns="0" tIns="0" rIns="0" bIns="0" rtlCol="0" anchor="ctr"/>
          <a:lstStyle/>
          <a:p>
            <a:pPr marL="0" indent="0">
              <a:buNone/>
            </a:pPr>
            <a:r>
              <a:rPr lang="en-US" sz="1250" dirty="0">
                <a:solidFill>
                  <a:srgbClr val="1B2433"/>
                </a:solidFill>
                <a:latin typeface="Calibri" pitchFamily="34" charset="0"/>
                <a:ea typeface="Calibri" pitchFamily="34" charset="-122"/>
                <a:cs typeface="Calibri" pitchFamily="34" charset="-120"/>
              </a:rPr>
              <a:t>Insert &gt; Transformations &gt; Rotate, then Translate</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457200"/>
            <a:ext cx="566928" cy="566928"/>
          </a:xfrm>
          <a:prstGeom prst="ellipse">
            <a:avLst/>
          </a:prstGeom>
          <a:solidFill>
            <a:srgbClr val="1C7293"/>
          </a:solidFill>
          <a:ln/>
          <a:effectLst>
            <a:outerShdw blurRad="88900" dist="25400" dir="5400000" algn="bl" rotWithShape="0">
              <a:srgbClr val="000000">
                <a:alpha val="13000"/>
              </a:srgbClr>
            </a:outerShdw>
          </a:effectLst>
        </p:spPr>
      </p:sp>
      <p:sp>
        <p:nvSpPr>
          <p:cNvPr id="3" name="Text 1"/>
          <p:cNvSpPr/>
          <p:nvPr/>
        </p:nvSpPr>
        <p:spPr>
          <a:xfrm>
            <a:off x="640080" y="457200"/>
            <a:ext cx="566928" cy="566928"/>
          </a:xfrm>
          <a:prstGeom prst="rect">
            <a:avLst/>
          </a:prstGeom>
          <a:noFill/>
          <a:ln/>
        </p:spPr>
        <p:txBody>
          <a:bodyPr wrap="square" rtlCol="0" anchor="ctr"/>
          <a:lstStyle/>
          <a:p>
            <a:pPr marL="0" indent="0" algn="ctr">
              <a:buNone/>
            </a:pPr>
            <a:r>
              <a:rPr lang="en-US" sz="2400" b="1" dirty="0">
                <a:solidFill>
                  <a:srgbClr val="FFFFFF"/>
                </a:solidFill>
                <a:latin typeface="Cambria" pitchFamily="34" charset="0"/>
                <a:ea typeface="Cambria" pitchFamily="34" charset="-122"/>
                <a:cs typeface="Cambria" pitchFamily="34" charset="-120"/>
              </a:rPr>
              <a:t>4</a:t>
            </a:r>
            <a:endParaRPr lang="en-US" sz="2400" dirty="0"/>
          </a:p>
        </p:txBody>
      </p:sp>
      <p:sp>
        <p:nvSpPr>
          <p:cNvPr id="4" name="Text 2"/>
          <p:cNvSpPr/>
          <p:nvPr/>
        </p:nvSpPr>
        <p:spPr>
          <a:xfrm>
            <a:off x="1371600" y="457200"/>
            <a:ext cx="10149840" cy="640080"/>
          </a:xfrm>
          <a:prstGeom prst="rect">
            <a:avLst/>
          </a:prstGeom>
          <a:noFill/>
          <a:ln/>
        </p:spPr>
        <p:txBody>
          <a:bodyPr wrap="square" lIns="0" tIns="0" rIns="0" bIns="0" rtlCol="0" anchor="ctr"/>
          <a:lstStyle/>
          <a:p>
            <a:pPr marL="0" indent="0">
              <a:buNone/>
            </a:pPr>
            <a:r>
              <a:rPr lang="en-US" sz="3000" b="1" dirty="0">
                <a:solidFill>
                  <a:srgbClr val="1B2433"/>
                </a:solidFill>
                <a:latin typeface="Cambria" pitchFamily="34" charset="0"/>
                <a:ea typeface="Cambria" pitchFamily="34" charset="-122"/>
                <a:cs typeface="Cambria" pitchFamily="34" charset="-120"/>
              </a:rPr>
              <a:t>Building the Curve Network</a:t>
            </a:r>
            <a:endParaRPr lang="en-US" sz="3000" dirty="0"/>
          </a:p>
        </p:txBody>
      </p:sp>
      <p:sp>
        <p:nvSpPr>
          <p:cNvPr id="7" name="Text 5"/>
          <p:cNvSpPr/>
          <p:nvPr/>
        </p:nvSpPr>
        <p:spPr>
          <a:xfrm>
            <a:off x="670561" y="1785769"/>
            <a:ext cx="3703320" cy="365760"/>
          </a:xfrm>
          <a:prstGeom prst="rect">
            <a:avLst/>
          </a:prstGeom>
          <a:noFill/>
          <a:ln/>
        </p:spPr>
        <p:txBody>
          <a:bodyPr wrap="square" lIns="0" tIns="0" rIns="0" bIns="0" rtlCol="0" anchor="ctr"/>
          <a:lstStyle/>
          <a:p>
            <a:pPr marL="0" indent="0">
              <a:buNone/>
            </a:pPr>
            <a:r>
              <a:rPr lang="en-US" sz="1700" b="1" dirty="0">
                <a:solidFill>
                  <a:srgbClr val="065A82"/>
                </a:solidFill>
                <a:latin typeface="Cambria" pitchFamily="34" charset="0"/>
                <a:ea typeface="Cambria" pitchFamily="34" charset="-122"/>
                <a:cs typeface="Cambria" pitchFamily="34" charset="-120"/>
              </a:rPr>
              <a:t>What I did</a:t>
            </a:r>
            <a:endParaRPr lang="en-US" sz="1700" dirty="0"/>
          </a:p>
        </p:txBody>
      </p:sp>
      <p:sp>
        <p:nvSpPr>
          <p:cNvPr id="8" name="Text 6"/>
          <p:cNvSpPr/>
          <p:nvPr/>
        </p:nvSpPr>
        <p:spPr>
          <a:xfrm>
            <a:off x="368450" y="2151529"/>
            <a:ext cx="3703320" cy="2743200"/>
          </a:xfrm>
          <a:prstGeom prst="rect">
            <a:avLst/>
          </a:prstGeom>
          <a:noFill/>
          <a:ln/>
        </p:spPr>
        <p:txBody>
          <a:bodyPr wrap="square" rtlCol="0" anchor="ctr"/>
          <a:lstStyle/>
          <a:p>
            <a:pPr marL="342900" indent="-342900">
              <a:spcAft>
                <a:spcPts val="800"/>
              </a:spcAft>
              <a:buSzPct val="100000"/>
              <a:buChar char="•"/>
            </a:pPr>
            <a:r>
              <a:rPr lang="en-US" sz="1350" dirty="0">
                <a:solidFill>
                  <a:srgbClr val="1B2433"/>
                </a:solidFill>
                <a:latin typeface="Calibri" pitchFamily="34" charset="0"/>
                <a:ea typeface="Calibri" pitchFamily="34" charset="-122"/>
                <a:cs typeface="Calibri" pitchFamily="34" charset="-120"/>
              </a:rPr>
              <a:t>Built a wireframe network directly on the mesh</a:t>
            </a:r>
            <a:endParaRPr lang="en-US" sz="1350" dirty="0"/>
          </a:p>
          <a:p>
            <a:pPr marL="342900" indent="-342900">
              <a:spcAft>
                <a:spcPts val="800"/>
              </a:spcAft>
              <a:buSzPct val="100000"/>
              <a:buChar char="•"/>
            </a:pPr>
            <a:r>
              <a:rPr lang="en-US" sz="1350" dirty="0">
                <a:solidFill>
                  <a:srgbClr val="1B2433"/>
                </a:solidFill>
                <a:latin typeface="Calibri" pitchFamily="34" charset="0"/>
                <a:ea typeface="Calibri" pitchFamily="34" charset="-122"/>
                <a:cs typeface="Calibri" pitchFamily="34" charset="-120"/>
              </a:rPr>
              <a:t>3D Curve, 'Through points', geometry detection ON (snaps to mesh)</a:t>
            </a:r>
            <a:endParaRPr lang="en-US" sz="1350" dirty="0"/>
          </a:p>
          <a:p>
            <a:pPr marL="342900" indent="-342900">
              <a:spcAft>
                <a:spcPts val="800"/>
              </a:spcAft>
              <a:buSzPct val="100000"/>
              <a:buChar char="•"/>
            </a:pPr>
            <a:r>
              <a:rPr lang="en-US" sz="1350" dirty="0">
                <a:solidFill>
                  <a:srgbClr val="1B2433"/>
                </a:solidFill>
                <a:latin typeface="Calibri" pitchFamily="34" charset="0"/>
                <a:ea typeface="Calibri" pitchFamily="34" charset="-122"/>
                <a:cs typeface="Calibri" pitchFamily="34" charset="-120"/>
              </a:rPr>
              <a:t>Several section curves crossing the panel</a:t>
            </a:r>
            <a:endParaRPr lang="en-US" sz="1350" dirty="0"/>
          </a:p>
          <a:p>
            <a:pPr marL="342900" indent="-342900">
              <a:spcAft>
                <a:spcPts val="800"/>
              </a:spcAft>
              <a:buSzPct val="100000"/>
              <a:buChar char="•"/>
            </a:pPr>
            <a:r>
              <a:rPr lang="en-US" sz="1350" dirty="0">
                <a:solidFill>
                  <a:srgbClr val="1B2433"/>
                </a:solidFill>
                <a:latin typeface="Calibri" pitchFamily="34" charset="0"/>
                <a:ea typeface="Calibri" pitchFamily="34" charset="-122"/>
                <a:cs typeface="Calibri" pitchFamily="34" charset="-120"/>
              </a:rPr>
              <a:t>Guide curves running lengthwise</a:t>
            </a:r>
            <a:endParaRPr lang="en-US" sz="1350" dirty="0"/>
          </a:p>
          <a:p>
            <a:pPr marL="342900" indent="-342900">
              <a:spcAft>
                <a:spcPts val="800"/>
              </a:spcAft>
              <a:buSzPct val="100000"/>
              <a:buChar char="•"/>
            </a:pPr>
            <a:r>
              <a:rPr lang="en-US" sz="1350" dirty="0">
                <a:solidFill>
                  <a:srgbClr val="1B2433"/>
                </a:solidFill>
                <a:latin typeface="Calibri" pitchFamily="34" charset="0"/>
                <a:ea typeface="Calibri" pitchFamily="34" charset="-122"/>
                <a:cs typeface="Calibri" pitchFamily="34" charset="-120"/>
              </a:rPr>
              <a:t>Manual, controllable route — avoids the forbidden commands</a:t>
            </a:r>
            <a:endParaRPr lang="en-US" sz="1350" dirty="0"/>
          </a:p>
        </p:txBody>
      </p:sp>
      <p:sp>
        <p:nvSpPr>
          <p:cNvPr id="9" name="Shape 7"/>
          <p:cNvSpPr/>
          <p:nvPr/>
        </p:nvSpPr>
        <p:spPr>
          <a:xfrm>
            <a:off x="368450" y="5097780"/>
            <a:ext cx="3703320" cy="1417320"/>
          </a:xfrm>
          <a:prstGeom prst="roundRect">
            <a:avLst>
              <a:gd name="adj" fmla="val 3871"/>
            </a:avLst>
          </a:prstGeom>
          <a:solidFill>
            <a:srgbClr val="F4F6F9"/>
          </a:solidFill>
          <a:ln/>
          <a:effectLst>
            <a:outerShdw blurRad="88900" dist="25400" dir="5400000" algn="bl" rotWithShape="0">
              <a:srgbClr val="000000">
                <a:alpha val="13000"/>
              </a:srgbClr>
            </a:outerShdw>
          </a:effectLst>
        </p:spPr>
      </p:sp>
      <p:sp>
        <p:nvSpPr>
          <p:cNvPr id="10" name="Text 8"/>
          <p:cNvSpPr/>
          <p:nvPr/>
        </p:nvSpPr>
        <p:spPr>
          <a:xfrm>
            <a:off x="640080" y="5231354"/>
            <a:ext cx="3337560" cy="320040"/>
          </a:xfrm>
          <a:prstGeom prst="rect">
            <a:avLst/>
          </a:prstGeom>
          <a:noFill/>
          <a:ln/>
        </p:spPr>
        <p:txBody>
          <a:bodyPr wrap="square" lIns="0" tIns="0" rIns="0" bIns="0" rtlCol="0" anchor="ctr"/>
          <a:lstStyle/>
          <a:p>
            <a:pPr marL="0" indent="0">
              <a:buNone/>
            </a:pPr>
            <a:r>
              <a:rPr lang="en-US" sz="1300" b="1" dirty="0">
                <a:solidFill>
                  <a:srgbClr val="1C7293"/>
                </a:solidFill>
                <a:latin typeface="Cambria" pitchFamily="34" charset="0"/>
                <a:ea typeface="Cambria" pitchFamily="34" charset="-122"/>
                <a:cs typeface="Cambria" pitchFamily="34" charset="-120"/>
              </a:rPr>
              <a:t>Commands used</a:t>
            </a:r>
            <a:endParaRPr lang="en-US" sz="1300" dirty="0"/>
          </a:p>
        </p:txBody>
      </p:sp>
      <p:sp>
        <p:nvSpPr>
          <p:cNvPr id="11" name="Text 9"/>
          <p:cNvSpPr/>
          <p:nvPr/>
        </p:nvSpPr>
        <p:spPr>
          <a:xfrm>
            <a:off x="640080" y="5444714"/>
            <a:ext cx="3337560" cy="822960"/>
          </a:xfrm>
          <a:prstGeom prst="rect">
            <a:avLst/>
          </a:prstGeom>
          <a:noFill/>
          <a:ln/>
        </p:spPr>
        <p:txBody>
          <a:bodyPr wrap="square" lIns="0" tIns="0" rIns="0" bIns="0" rtlCol="0" anchor="ctr"/>
          <a:lstStyle/>
          <a:p>
            <a:pPr marL="0" indent="0">
              <a:buNone/>
            </a:pPr>
            <a:r>
              <a:rPr lang="en-US" sz="1250" dirty="0">
                <a:solidFill>
                  <a:srgbClr val="1B2433"/>
                </a:solidFill>
                <a:latin typeface="Calibri" pitchFamily="34" charset="0"/>
                <a:ea typeface="Calibri" pitchFamily="34" charset="-122"/>
                <a:cs typeface="Calibri" pitchFamily="34" charset="-120"/>
              </a:rPr>
              <a:t>Insert &gt; Curve Creation &gt; 3D Curve</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457200"/>
            <a:ext cx="566928" cy="566928"/>
          </a:xfrm>
          <a:prstGeom prst="ellipse">
            <a:avLst/>
          </a:prstGeom>
          <a:solidFill>
            <a:srgbClr val="1C7293"/>
          </a:solidFill>
          <a:ln/>
          <a:effectLst>
            <a:outerShdw blurRad="88900" dist="25400" dir="5400000" algn="bl" rotWithShape="0">
              <a:srgbClr val="000000">
                <a:alpha val="13000"/>
              </a:srgbClr>
            </a:outerShdw>
          </a:effectLst>
        </p:spPr>
      </p:sp>
      <p:sp>
        <p:nvSpPr>
          <p:cNvPr id="3" name="Text 1"/>
          <p:cNvSpPr/>
          <p:nvPr/>
        </p:nvSpPr>
        <p:spPr>
          <a:xfrm>
            <a:off x="640080" y="457200"/>
            <a:ext cx="566928" cy="566928"/>
          </a:xfrm>
          <a:prstGeom prst="rect">
            <a:avLst/>
          </a:prstGeom>
          <a:noFill/>
          <a:ln/>
        </p:spPr>
        <p:txBody>
          <a:bodyPr wrap="square" rtlCol="0" anchor="ctr"/>
          <a:lstStyle/>
          <a:p>
            <a:pPr marL="0" indent="0" algn="ctr">
              <a:buNone/>
            </a:pPr>
            <a:r>
              <a:rPr lang="en-US" sz="2400" b="1" dirty="0">
                <a:solidFill>
                  <a:srgbClr val="FFFFFF"/>
                </a:solidFill>
                <a:latin typeface="Cambria" pitchFamily="34" charset="0"/>
                <a:ea typeface="Cambria" pitchFamily="34" charset="-122"/>
                <a:cs typeface="Cambria" pitchFamily="34" charset="-120"/>
              </a:rPr>
              <a:t>5</a:t>
            </a:r>
            <a:endParaRPr lang="en-US" sz="2400" dirty="0"/>
          </a:p>
        </p:txBody>
      </p:sp>
      <p:sp>
        <p:nvSpPr>
          <p:cNvPr id="4" name="Text 2"/>
          <p:cNvSpPr/>
          <p:nvPr/>
        </p:nvSpPr>
        <p:spPr>
          <a:xfrm>
            <a:off x="1371600" y="457200"/>
            <a:ext cx="10149840" cy="640080"/>
          </a:xfrm>
          <a:prstGeom prst="rect">
            <a:avLst/>
          </a:prstGeom>
          <a:noFill/>
          <a:ln/>
        </p:spPr>
        <p:txBody>
          <a:bodyPr wrap="square" lIns="0" tIns="0" rIns="0" bIns="0" rtlCol="0" anchor="ctr"/>
          <a:lstStyle/>
          <a:p>
            <a:pPr marL="0" indent="0">
              <a:buNone/>
            </a:pPr>
            <a:r>
              <a:rPr lang="en-US" sz="3000" b="1" dirty="0">
                <a:solidFill>
                  <a:srgbClr val="1B2433"/>
                </a:solidFill>
                <a:latin typeface="Cambria" pitchFamily="34" charset="0"/>
                <a:ea typeface="Cambria" pitchFamily="34" charset="-122"/>
                <a:cs typeface="Cambria" pitchFamily="34" charset="-120"/>
              </a:rPr>
              <a:t>Creating the Surface</a:t>
            </a:r>
            <a:endParaRPr lang="en-US" sz="3000" dirty="0"/>
          </a:p>
        </p:txBody>
      </p:sp>
      <p:sp>
        <p:nvSpPr>
          <p:cNvPr id="7" name="Text 5"/>
          <p:cNvSpPr/>
          <p:nvPr/>
        </p:nvSpPr>
        <p:spPr>
          <a:xfrm>
            <a:off x="801445" y="1824094"/>
            <a:ext cx="3703320" cy="365760"/>
          </a:xfrm>
          <a:prstGeom prst="rect">
            <a:avLst/>
          </a:prstGeom>
          <a:noFill/>
          <a:ln/>
        </p:spPr>
        <p:txBody>
          <a:bodyPr wrap="square" lIns="0" tIns="0" rIns="0" bIns="0" rtlCol="0" anchor="ctr"/>
          <a:lstStyle/>
          <a:p>
            <a:pPr marL="0" indent="0">
              <a:buNone/>
            </a:pPr>
            <a:r>
              <a:rPr lang="en-US" sz="1700" b="1" dirty="0">
                <a:solidFill>
                  <a:srgbClr val="065A82"/>
                </a:solidFill>
                <a:latin typeface="Cambria" pitchFamily="34" charset="0"/>
                <a:ea typeface="Cambria" pitchFamily="34" charset="-122"/>
                <a:cs typeface="Cambria" pitchFamily="34" charset="-120"/>
              </a:rPr>
              <a:t>What I did</a:t>
            </a:r>
            <a:endParaRPr lang="en-US" sz="1700" dirty="0"/>
          </a:p>
        </p:txBody>
      </p:sp>
      <p:sp>
        <p:nvSpPr>
          <p:cNvPr id="8" name="Text 6"/>
          <p:cNvSpPr/>
          <p:nvPr/>
        </p:nvSpPr>
        <p:spPr>
          <a:xfrm>
            <a:off x="502919" y="2057400"/>
            <a:ext cx="3703320" cy="2743200"/>
          </a:xfrm>
          <a:prstGeom prst="rect">
            <a:avLst/>
          </a:prstGeom>
          <a:noFill/>
          <a:ln/>
        </p:spPr>
        <p:txBody>
          <a:bodyPr wrap="square" rtlCol="0" anchor="ctr"/>
          <a:lstStyle/>
          <a:p>
            <a:pPr marL="342900" indent="-342900">
              <a:spcAft>
                <a:spcPts val="800"/>
              </a:spcAft>
              <a:buSzPct val="100000"/>
              <a:buChar char="•"/>
            </a:pPr>
            <a:r>
              <a:rPr lang="en-US" sz="1350" dirty="0">
                <a:solidFill>
                  <a:srgbClr val="1B2433"/>
                </a:solidFill>
                <a:latin typeface="Calibri" pitchFamily="34" charset="0"/>
                <a:ea typeface="Calibri" pitchFamily="34" charset="-122"/>
                <a:cs typeface="Calibri" pitchFamily="34" charset="-120"/>
              </a:rPr>
              <a:t>Lofted a surface through the section curves in order</a:t>
            </a:r>
            <a:endParaRPr lang="en-US" sz="1350" dirty="0"/>
          </a:p>
          <a:p>
            <a:pPr marL="342900" indent="-342900">
              <a:spcAft>
                <a:spcPts val="800"/>
              </a:spcAft>
              <a:buSzPct val="100000"/>
              <a:buChar char="•"/>
            </a:pPr>
            <a:r>
              <a:rPr lang="en-US" sz="1350" dirty="0">
                <a:solidFill>
                  <a:srgbClr val="1B2433"/>
                </a:solidFill>
                <a:latin typeface="Calibri" pitchFamily="34" charset="0"/>
                <a:ea typeface="Calibri" pitchFamily="34" charset="-122"/>
                <a:cs typeface="Calibri" pitchFamily="34" charset="-120"/>
              </a:rPr>
              <a:t>Sections: the cross curves; guides: the lengthwise curves</a:t>
            </a:r>
            <a:endParaRPr lang="en-US" sz="1350" dirty="0"/>
          </a:p>
          <a:p>
            <a:pPr marL="342900" indent="-342900">
              <a:spcAft>
                <a:spcPts val="800"/>
              </a:spcAft>
              <a:buSzPct val="100000"/>
              <a:buChar char="•"/>
            </a:pPr>
            <a:r>
              <a:rPr lang="en-US" sz="1350" dirty="0">
                <a:solidFill>
                  <a:srgbClr val="1B2433"/>
                </a:solidFill>
                <a:latin typeface="Calibri" pitchFamily="34" charset="0"/>
                <a:ea typeface="Calibri" pitchFamily="34" charset="-122"/>
                <a:cs typeface="Calibri" pitchFamily="34" charset="-120"/>
              </a:rPr>
              <a:t>Checked section directions to avoid twisting</a:t>
            </a:r>
            <a:endParaRPr lang="en-US" sz="1350" dirty="0"/>
          </a:p>
          <a:p>
            <a:pPr marL="342900" indent="-342900">
              <a:spcAft>
                <a:spcPts val="800"/>
              </a:spcAft>
              <a:buSzPct val="100000"/>
              <a:buChar char="•"/>
            </a:pPr>
            <a:r>
              <a:rPr lang="en-US" sz="1350" dirty="0">
                <a:solidFill>
                  <a:srgbClr val="1B2433"/>
                </a:solidFill>
                <a:latin typeface="Calibri" pitchFamily="34" charset="0"/>
                <a:ea typeface="Calibri" pitchFamily="34" charset="-122"/>
                <a:cs typeface="Calibri" pitchFamily="34" charset="-120"/>
              </a:rPr>
              <a:t>Result: one continuous skin following the panel shape</a:t>
            </a:r>
            <a:endParaRPr lang="en-US" sz="1350" dirty="0"/>
          </a:p>
          <a:p>
            <a:pPr marL="342900" indent="-342900">
              <a:spcAft>
                <a:spcPts val="800"/>
              </a:spcAft>
              <a:buSzPct val="100000"/>
              <a:buChar char="•"/>
            </a:pPr>
            <a:r>
              <a:rPr lang="en-US" sz="1350" dirty="0">
                <a:solidFill>
                  <a:srgbClr val="1B2433"/>
                </a:solidFill>
                <a:latin typeface="Calibri" pitchFamily="34" charset="0"/>
                <a:ea typeface="Calibri" pitchFamily="34" charset="-122"/>
                <a:cs typeface="Calibri" pitchFamily="34" charset="-120"/>
              </a:rPr>
              <a:t>Clean, readable part tree (curves → surface)</a:t>
            </a:r>
            <a:endParaRPr lang="en-US" sz="1350" dirty="0"/>
          </a:p>
        </p:txBody>
      </p:sp>
      <p:sp>
        <p:nvSpPr>
          <p:cNvPr id="9" name="Shape 7"/>
          <p:cNvSpPr/>
          <p:nvPr/>
        </p:nvSpPr>
        <p:spPr>
          <a:xfrm>
            <a:off x="574637" y="4928347"/>
            <a:ext cx="3703320" cy="1417320"/>
          </a:xfrm>
          <a:prstGeom prst="roundRect">
            <a:avLst>
              <a:gd name="adj" fmla="val 3871"/>
            </a:avLst>
          </a:prstGeom>
          <a:solidFill>
            <a:srgbClr val="F4F6F9"/>
          </a:solidFill>
          <a:ln/>
          <a:effectLst>
            <a:outerShdw blurRad="88900" dist="25400" dir="5400000" algn="bl" rotWithShape="0">
              <a:srgbClr val="000000">
                <a:alpha val="13000"/>
              </a:srgbClr>
            </a:outerShdw>
          </a:effectLst>
        </p:spPr>
      </p:sp>
      <p:sp>
        <p:nvSpPr>
          <p:cNvPr id="10" name="Text 8"/>
          <p:cNvSpPr/>
          <p:nvPr/>
        </p:nvSpPr>
        <p:spPr>
          <a:xfrm>
            <a:off x="757517" y="5029200"/>
            <a:ext cx="3337560" cy="320040"/>
          </a:xfrm>
          <a:prstGeom prst="rect">
            <a:avLst/>
          </a:prstGeom>
          <a:noFill/>
          <a:ln/>
        </p:spPr>
        <p:txBody>
          <a:bodyPr wrap="square" lIns="0" tIns="0" rIns="0" bIns="0" rtlCol="0" anchor="ctr"/>
          <a:lstStyle/>
          <a:p>
            <a:pPr marL="0" indent="0">
              <a:buNone/>
            </a:pPr>
            <a:r>
              <a:rPr lang="en-US" sz="1300" b="1" dirty="0">
                <a:solidFill>
                  <a:srgbClr val="1C7293"/>
                </a:solidFill>
                <a:latin typeface="Cambria" pitchFamily="34" charset="0"/>
                <a:ea typeface="Cambria" pitchFamily="34" charset="-122"/>
                <a:cs typeface="Cambria" pitchFamily="34" charset="-120"/>
              </a:rPr>
              <a:t>Commands used</a:t>
            </a:r>
            <a:endParaRPr lang="en-US" sz="1300" dirty="0"/>
          </a:p>
        </p:txBody>
      </p:sp>
      <p:sp>
        <p:nvSpPr>
          <p:cNvPr id="11" name="Text 9"/>
          <p:cNvSpPr/>
          <p:nvPr/>
        </p:nvSpPr>
        <p:spPr>
          <a:xfrm>
            <a:off x="640080" y="5339379"/>
            <a:ext cx="3337560" cy="822960"/>
          </a:xfrm>
          <a:prstGeom prst="rect">
            <a:avLst/>
          </a:prstGeom>
          <a:noFill/>
          <a:ln/>
        </p:spPr>
        <p:txBody>
          <a:bodyPr wrap="square" lIns="0" tIns="0" rIns="0" bIns="0" rtlCol="0" anchor="ctr"/>
          <a:lstStyle/>
          <a:p>
            <a:pPr marL="0" indent="0">
              <a:buNone/>
            </a:pPr>
            <a:r>
              <a:rPr lang="en-US" sz="1250" dirty="0">
                <a:solidFill>
                  <a:srgbClr val="1B2433"/>
                </a:solidFill>
                <a:latin typeface="Calibri" pitchFamily="34" charset="0"/>
                <a:ea typeface="Calibri" pitchFamily="34" charset="-122"/>
                <a:cs typeface="Calibri" pitchFamily="34" charset="-120"/>
              </a:rPr>
              <a:t>Insert &gt; Surface Creation &gt; Multi-Section Surface</a:t>
            </a:r>
            <a:endParaRPr lang="en-US" sz="12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457200"/>
            <a:ext cx="566928" cy="566928"/>
          </a:xfrm>
          <a:prstGeom prst="ellipse">
            <a:avLst/>
          </a:prstGeom>
          <a:solidFill>
            <a:srgbClr val="1C7293"/>
          </a:solidFill>
          <a:ln/>
          <a:effectLst>
            <a:outerShdw blurRad="88900" dist="25400" dir="5400000" algn="bl" rotWithShape="0">
              <a:srgbClr val="000000">
                <a:alpha val="13000"/>
              </a:srgbClr>
            </a:outerShdw>
          </a:effectLst>
        </p:spPr>
      </p:sp>
      <p:sp>
        <p:nvSpPr>
          <p:cNvPr id="3" name="Text 1"/>
          <p:cNvSpPr/>
          <p:nvPr/>
        </p:nvSpPr>
        <p:spPr>
          <a:xfrm>
            <a:off x="640080" y="457200"/>
            <a:ext cx="566928" cy="566928"/>
          </a:xfrm>
          <a:prstGeom prst="rect">
            <a:avLst/>
          </a:prstGeom>
          <a:noFill/>
          <a:ln/>
        </p:spPr>
        <p:txBody>
          <a:bodyPr wrap="square" rtlCol="0" anchor="ctr"/>
          <a:lstStyle/>
          <a:p>
            <a:pPr marL="0" indent="0" algn="ctr">
              <a:buNone/>
            </a:pPr>
            <a:r>
              <a:rPr lang="en-US" sz="2400" b="1" dirty="0">
                <a:solidFill>
                  <a:srgbClr val="FFFFFF"/>
                </a:solidFill>
                <a:latin typeface="Cambria" pitchFamily="34" charset="0"/>
                <a:ea typeface="Cambria" pitchFamily="34" charset="-122"/>
                <a:cs typeface="Cambria" pitchFamily="34" charset="-120"/>
              </a:rPr>
              <a:t>6</a:t>
            </a:r>
            <a:endParaRPr lang="en-US" sz="2400" dirty="0"/>
          </a:p>
        </p:txBody>
      </p:sp>
      <p:sp>
        <p:nvSpPr>
          <p:cNvPr id="4" name="Text 2"/>
          <p:cNvSpPr/>
          <p:nvPr/>
        </p:nvSpPr>
        <p:spPr>
          <a:xfrm>
            <a:off x="1371600" y="457200"/>
            <a:ext cx="10149840" cy="640080"/>
          </a:xfrm>
          <a:prstGeom prst="rect">
            <a:avLst/>
          </a:prstGeom>
          <a:noFill/>
          <a:ln/>
        </p:spPr>
        <p:txBody>
          <a:bodyPr wrap="square" lIns="0" tIns="0" rIns="0" bIns="0" rtlCol="0" anchor="ctr"/>
          <a:lstStyle/>
          <a:p>
            <a:pPr marL="0" indent="0">
              <a:buNone/>
            </a:pPr>
            <a:r>
              <a:rPr lang="en-US" sz="3000" b="1" dirty="0">
                <a:solidFill>
                  <a:srgbClr val="1B2433"/>
                </a:solidFill>
                <a:latin typeface="Cambria" pitchFamily="34" charset="0"/>
                <a:ea typeface="Cambria" pitchFamily="34" charset="-122"/>
                <a:cs typeface="Cambria" pitchFamily="34" charset="-120"/>
              </a:rPr>
              <a:t>Creating the Solid Body</a:t>
            </a:r>
            <a:endParaRPr lang="en-US" sz="3000" dirty="0"/>
          </a:p>
        </p:txBody>
      </p:sp>
      <p:sp>
        <p:nvSpPr>
          <p:cNvPr id="7" name="Text 5"/>
          <p:cNvSpPr/>
          <p:nvPr/>
        </p:nvSpPr>
        <p:spPr>
          <a:xfrm>
            <a:off x="670561" y="1694330"/>
            <a:ext cx="3703320" cy="365760"/>
          </a:xfrm>
          <a:prstGeom prst="rect">
            <a:avLst/>
          </a:prstGeom>
          <a:noFill/>
          <a:ln/>
        </p:spPr>
        <p:txBody>
          <a:bodyPr wrap="square" lIns="0" tIns="0" rIns="0" bIns="0" rtlCol="0" anchor="ctr"/>
          <a:lstStyle/>
          <a:p>
            <a:pPr marL="0" indent="0">
              <a:buNone/>
            </a:pPr>
            <a:r>
              <a:rPr lang="en-US" sz="1700" b="1" dirty="0">
                <a:solidFill>
                  <a:srgbClr val="065A82"/>
                </a:solidFill>
                <a:latin typeface="Cambria" pitchFamily="34" charset="0"/>
                <a:ea typeface="Cambria" pitchFamily="34" charset="-122"/>
                <a:cs typeface="Cambria" pitchFamily="34" charset="-120"/>
              </a:rPr>
              <a:t>What I did</a:t>
            </a:r>
            <a:endParaRPr lang="en-US" sz="1700" dirty="0"/>
          </a:p>
        </p:txBody>
      </p:sp>
      <p:sp>
        <p:nvSpPr>
          <p:cNvPr id="8" name="Text 6"/>
          <p:cNvSpPr/>
          <p:nvPr/>
        </p:nvSpPr>
        <p:spPr>
          <a:xfrm>
            <a:off x="413273" y="1857487"/>
            <a:ext cx="3703320" cy="2743200"/>
          </a:xfrm>
          <a:prstGeom prst="rect">
            <a:avLst/>
          </a:prstGeom>
          <a:noFill/>
          <a:ln/>
        </p:spPr>
        <p:txBody>
          <a:bodyPr wrap="square" rtlCol="0" anchor="ctr"/>
          <a:lstStyle/>
          <a:p>
            <a:pPr marL="342900" indent="-342900">
              <a:spcAft>
                <a:spcPts val="800"/>
              </a:spcAft>
              <a:buSzPct val="100000"/>
              <a:buChar char="•"/>
            </a:pPr>
            <a:r>
              <a:rPr lang="en-US" sz="1350" dirty="0">
                <a:solidFill>
                  <a:srgbClr val="1B2433"/>
                </a:solidFill>
                <a:latin typeface="Calibri" pitchFamily="34" charset="0"/>
                <a:ea typeface="Calibri" pitchFamily="34" charset="-122"/>
                <a:cs typeface="Calibri" pitchFamily="34" charset="-120"/>
              </a:rPr>
              <a:t>Switched to Part Design</a:t>
            </a:r>
            <a:endParaRPr lang="en-US" sz="1350" dirty="0"/>
          </a:p>
          <a:p>
            <a:pPr marL="342900" indent="-342900">
              <a:spcAft>
                <a:spcPts val="800"/>
              </a:spcAft>
              <a:buSzPct val="100000"/>
              <a:buChar char="•"/>
            </a:pPr>
            <a:r>
              <a:rPr lang="en-US" sz="1350" dirty="0">
                <a:solidFill>
                  <a:srgbClr val="1B2433"/>
                </a:solidFill>
                <a:latin typeface="Calibri" pitchFamily="34" charset="0"/>
                <a:ea typeface="Calibri" pitchFamily="34" charset="-122"/>
                <a:cs typeface="Calibri" pitchFamily="34" charset="-120"/>
              </a:rPr>
              <a:t>Applied Thick Surface to the Multi-Section Surface</a:t>
            </a:r>
            <a:endParaRPr lang="en-US" sz="1350" dirty="0"/>
          </a:p>
          <a:p>
            <a:pPr marL="342900" indent="-342900">
              <a:spcAft>
                <a:spcPts val="800"/>
              </a:spcAft>
              <a:buSzPct val="100000"/>
              <a:buChar char="•"/>
            </a:pPr>
            <a:r>
              <a:rPr lang="en-US" sz="1350" dirty="0">
                <a:solidFill>
                  <a:srgbClr val="1B2433"/>
                </a:solidFill>
                <a:latin typeface="Calibri" pitchFamily="34" charset="0"/>
                <a:ea typeface="Calibri" pitchFamily="34" charset="-122"/>
                <a:cs typeface="Calibri" pitchFamily="34" charset="-120"/>
              </a:rPr>
              <a:t>Thickness = 1 mm (assumed — single-skin scan, realistic hood gauge)</a:t>
            </a:r>
            <a:endParaRPr lang="en-US" sz="1350" dirty="0"/>
          </a:p>
          <a:p>
            <a:pPr marL="342900" indent="-342900">
              <a:spcAft>
                <a:spcPts val="800"/>
              </a:spcAft>
              <a:buSzPct val="100000"/>
              <a:buChar char="•"/>
            </a:pPr>
            <a:r>
              <a:rPr lang="en-US" sz="1350" dirty="0">
                <a:solidFill>
                  <a:srgbClr val="1B2433"/>
                </a:solidFill>
                <a:latin typeface="Calibri" pitchFamily="34" charset="0"/>
                <a:ea typeface="Calibri" pitchFamily="34" charset="-122"/>
                <a:cs typeface="Calibri" pitchFamily="34" charset="-120"/>
              </a:rPr>
              <a:t>Result: a solid body, ThickSurface.1, in the tree</a:t>
            </a:r>
            <a:endParaRPr lang="en-US" sz="1350" dirty="0"/>
          </a:p>
        </p:txBody>
      </p:sp>
      <p:sp>
        <p:nvSpPr>
          <p:cNvPr id="9" name="Shape 7"/>
          <p:cNvSpPr/>
          <p:nvPr/>
        </p:nvSpPr>
        <p:spPr>
          <a:xfrm>
            <a:off x="487681" y="4892040"/>
            <a:ext cx="3703320" cy="1417320"/>
          </a:xfrm>
          <a:prstGeom prst="roundRect">
            <a:avLst>
              <a:gd name="adj" fmla="val 3871"/>
            </a:avLst>
          </a:prstGeom>
          <a:solidFill>
            <a:srgbClr val="F4F6F9"/>
          </a:solidFill>
          <a:ln/>
          <a:effectLst>
            <a:outerShdw blurRad="88900" dist="25400" dir="5400000" algn="bl" rotWithShape="0">
              <a:srgbClr val="000000">
                <a:alpha val="13000"/>
              </a:srgbClr>
            </a:outerShdw>
          </a:effectLst>
        </p:spPr>
      </p:sp>
      <p:sp>
        <p:nvSpPr>
          <p:cNvPr id="10" name="Text 8"/>
          <p:cNvSpPr/>
          <p:nvPr/>
        </p:nvSpPr>
        <p:spPr>
          <a:xfrm>
            <a:off x="670561" y="5038165"/>
            <a:ext cx="3337560" cy="320040"/>
          </a:xfrm>
          <a:prstGeom prst="rect">
            <a:avLst/>
          </a:prstGeom>
          <a:noFill/>
          <a:ln/>
        </p:spPr>
        <p:txBody>
          <a:bodyPr wrap="square" lIns="0" tIns="0" rIns="0" bIns="0" rtlCol="0" anchor="ctr"/>
          <a:lstStyle/>
          <a:p>
            <a:pPr marL="0" indent="0">
              <a:buNone/>
            </a:pPr>
            <a:r>
              <a:rPr lang="en-US" sz="1300" b="1" dirty="0">
                <a:solidFill>
                  <a:srgbClr val="1C7293"/>
                </a:solidFill>
                <a:latin typeface="Cambria" pitchFamily="34" charset="0"/>
                <a:ea typeface="Cambria" pitchFamily="34" charset="-122"/>
                <a:cs typeface="Cambria" pitchFamily="34" charset="-120"/>
              </a:rPr>
              <a:t>Commands used</a:t>
            </a:r>
            <a:endParaRPr lang="en-US" sz="1300" dirty="0"/>
          </a:p>
        </p:txBody>
      </p:sp>
      <p:sp>
        <p:nvSpPr>
          <p:cNvPr id="11" name="Text 9"/>
          <p:cNvSpPr/>
          <p:nvPr/>
        </p:nvSpPr>
        <p:spPr>
          <a:xfrm>
            <a:off x="640080" y="5358205"/>
            <a:ext cx="3337560" cy="822960"/>
          </a:xfrm>
          <a:prstGeom prst="rect">
            <a:avLst/>
          </a:prstGeom>
          <a:noFill/>
          <a:ln/>
        </p:spPr>
        <p:txBody>
          <a:bodyPr wrap="square" lIns="0" tIns="0" rIns="0" bIns="0" rtlCol="0" anchor="ctr"/>
          <a:lstStyle/>
          <a:p>
            <a:pPr marL="0" indent="0">
              <a:buNone/>
            </a:pPr>
            <a:r>
              <a:rPr lang="en-US" sz="1250" dirty="0">
                <a:solidFill>
                  <a:srgbClr val="1B2433"/>
                </a:solidFill>
                <a:latin typeface="Calibri" pitchFamily="34" charset="0"/>
                <a:ea typeface="Calibri" pitchFamily="34" charset="-122"/>
                <a:cs typeface="Calibri" pitchFamily="34" charset="-120"/>
              </a:rPr>
              <a:t>Part Design &gt; Insert &gt; Surface-Based Features &gt; Thick Surface</a:t>
            </a:r>
            <a:endParaRPr lang="en-US" sz="12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457200"/>
            <a:ext cx="566928" cy="566928"/>
          </a:xfrm>
          <a:prstGeom prst="ellipse">
            <a:avLst/>
          </a:prstGeom>
          <a:solidFill>
            <a:srgbClr val="1C7293"/>
          </a:solidFill>
          <a:ln/>
          <a:effectLst>
            <a:outerShdw blurRad="88900" dist="25400" dir="5400000" algn="bl" rotWithShape="0">
              <a:srgbClr val="000000">
                <a:alpha val="13000"/>
              </a:srgbClr>
            </a:outerShdw>
          </a:effectLst>
        </p:spPr>
      </p:sp>
      <p:sp>
        <p:nvSpPr>
          <p:cNvPr id="3" name="Text 1"/>
          <p:cNvSpPr/>
          <p:nvPr/>
        </p:nvSpPr>
        <p:spPr>
          <a:xfrm>
            <a:off x="640080" y="457200"/>
            <a:ext cx="566928" cy="566928"/>
          </a:xfrm>
          <a:prstGeom prst="rect">
            <a:avLst/>
          </a:prstGeom>
          <a:noFill/>
          <a:ln/>
        </p:spPr>
        <p:txBody>
          <a:bodyPr wrap="square" rtlCol="0" anchor="ctr"/>
          <a:lstStyle/>
          <a:p>
            <a:pPr marL="0" indent="0" algn="ctr">
              <a:buNone/>
            </a:pPr>
            <a:r>
              <a:rPr lang="en-US" sz="2400" b="1" dirty="0">
                <a:solidFill>
                  <a:srgbClr val="FFFFFF"/>
                </a:solidFill>
                <a:latin typeface="Cambria" pitchFamily="34" charset="0"/>
                <a:ea typeface="Cambria" pitchFamily="34" charset="-122"/>
                <a:cs typeface="Cambria" pitchFamily="34" charset="-120"/>
              </a:rPr>
              <a:t>7</a:t>
            </a:r>
            <a:endParaRPr lang="en-US" sz="2400" dirty="0"/>
          </a:p>
        </p:txBody>
      </p:sp>
      <p:sp>
        <p:nvSpPr>
          <p:cNvPr id="4" name="Text 2"/>
          <p:cNvSpPr/>
          <p:nvPr/>
        </p:nvSpPr>
        <p:spPr>
          <a:xfrm>
            <a:off x="1371600" y="457200"/>
            <a:ext cx="10149840" cy="640080"/>
          </a:xfrm>
          <a:prstGeom prst="rect">
            <a:avLst/>
          </a:prstGeom>
          <a:noFill/>
          <a:ln/>
        </p:spPr>
        <p:txBody>
          <a:bodyPr wrap="square" lIns="0" tIns="0" rIns="0" bIns="0" rtlCol="0" anchor="ctr"/>
          <a:lstStyle/>
          <a:p>
            <a:pPr marL="0" indent="0">
              <a:buNone/>
            </a:pPr>
            <a:r>
              <a:rPr lang="en-US" sz="3000" b="1" dirty="0">
                <a:solidFill>
                  <a:srgbClr val="1B2433"/>
                </a:solidFill>
                <a:latin typeface="Cambria" pitchFamily="34" charset="0"/>
                <a:ea typeface="Cambria" pitchFamily="34" charset="-122"/>
                <a:cs typeface="Cambria" pitchFamily="34" charset="-120"/>
              </a:rPr>
              <a:t>Deviation Analysis</a:t>
            </a:r>
            <a:endParaRPr lang="en-US" sz="3000" dirty="0"/>
          </a:p>
        </p:txBody>
      </p:sp>
      <p:sp>
        <p:nvSpPr>
          <p:cNvPr id="6" name="Text 4"/>
          <p:cNvSpPr/>
          <p:nvPr/>
        </p:nvSpPr>
        <p:spPr>
          <a:xfrm>
            <a:off x="640080" y="3383280"/>
            <a:ext cx="6858000" cy="1005840"/>
          </a:xfrm>
          <a:prstGeom prst="rect">
            <a:avLst/>
          </a:prstGeom>
          <a:noFill/>
          <a:ln/>
        </p:spPr>
        <p:txBody>
          <a:bodyPr wrap="square" rtlCol="0" anchor="ctr"/>
          <a:lstStyle/>
          <a:p>
            <a:pPr marL="0" indent="0" algn="ctr">
              <a:buNone/>
            </a:pPr>
            <a:r>
              <a:rPr lang="en-US" sz="1300" b="1" dirty="0">
                <a:solidFill>
                  <a:srgbClr val="64748B"/>
                </a:solidFill>
                <a:latin typeface="Calibri" pitchFamily="34" charset="0"/>
                <a:ea typeface="Calibri" pitchFamily="34" charset="-122"/>
                <a:cs typeface="Calibri" pitchFamily="34" charset="-120"/>
              </a:rPr>
              <a:t>PASTE YOUR SCREENSHOT HERE
</a:t>
            </a:r>
            <a:endParaRPr lang="en-US" sz="1300" dirty="0"/>
          </a:p>
          <a:p>
            <a:pPr marL="0" indent="0" algn="ctr">
              <a:buNone/>
            </a:pPr>
            <a:r>
              <a:rPr lang="en-US" sz="1100" i="1" dirty="0">
                <a:solidFill>
                  <a:srgbClr val="64748B"/>
                </a:solidFill>
                <a:latin typeface="Calibri" pitchFamily="34" charset="0"/>
                <a:ea typeface="Calibri" pitchFamily="34" charset="-122"/>
                <a:cs typeface="Calibri" pitchFamily="34" charset="-120"/>
              </a:rPr>
              <a:t>CATIA: the color deviation map + scale (Positive Max ≈ 0.50 mm)</a:t>
            </a:r>
            <a:endParaRPr lang="en-US" sz="1300" dirty="0"/>
          </a:p>
        </p:txBody>
      </p:sp>
      <p:sp>
        <p:nvSpPr>
          <p:cNvPr id="7" name="Text 5"/>
          <p:cNvSpPr/>
          <p:nvPr/>
        </p:nvSpPr>
        <p:spPr>
          <a:xfrm>
            <a:off x="7818120" y="1463040"/>
            <a:ext cx="3703320" cy="365760"/>
          </a:xfrm>
          <a:prstGeom prst="rect">
            <a:avLst/>
          </a:prstGeom>
          <a:noFill/>
          <a:ln/>
        </p:spPr>
        <p:txBody>
          <a:bodyPr wrap="square" lIns="0" tIns="0" rIns="0" bIns="0" rtlCol="0" anchor="ctr"/>
          <a:lstStyle/>
          <a:p>
            <a:pPr marL="0" indent="0">
              <a:buNone/>
            </a:pPr>
            <a:r>
              <a:rPr lang="en-US" sz="1700" b="1" dirty="0">
                <a:solidFill>
                  <a:srgbClr val="065A82"/>
                </a:solidFill>
                <a:latin typeface="Cambria" pitchFamily="34" charset="0"/>
                <a:ea typeface="Cambria" pitchFamily="34" charset="-122"/>
                <a:cs typeface="Cambria" pitchFamily="34" charset="-120"/>
              </a:rPr>
              <a:t>What I did</a:t>
            </a:r>
            <a:endParaRPr lang="en-US" sz="1700" dirty="0"/>
          </a:p>
        </p:txBody>
      </p:sp>
      <p:sp>
        <p:nvSpPr>
          <p:cNvPr id="8" name="Text 6"/>
          <p:cNvSpPr/>
          <p:nvPr/>
        </p:nvSpPr>
        <p:spPr>
          <a:xfrm>
            <a:off x="7818120" y="1874520"/>
            <a:ext cx="3703320" cy="2743200"/>
          </a:xfrm>
          <a:prstGeom prst="rect">
            <a:avLst/>
          </a:prstGeom>
          <a:noFill/>
          <a:ln/>
        </p:spPr>
        <p:txBody>
          <a:bodyPr wrap="square" rtlCol="0" anchor="ctr"/>
          <a:lstStyle/>
          <a:p>
            <a:pPr marL="342900" indent="-342900">
              <a:spcAft>
                <a:spcPts val="800"/>
              </a:spcAft>
              <a:buSzPct val="100000"/>
              <a:buChar char="•"/>
            </a:pPr>
            <a:r>
              <a:rPr lang="en-US" sz="1350" dirty="0">
                <a:solidFill>
                  <a:srgbClr val="1B2433"/>
                </a:solidFill>
                <a:latin typeface="Calibri" pitchFamily="34" charset="0"/>
                <a:ea typeface="Calibri" pitchFamily="34" charset="-122"/>
                <a:cs typeface="Calibri" pitchFamily="34" charset="-120"/>
              </a:rPr>
              <a:t>Compared the final surface/solid against the scan mesh</a:t>
            </a:r>
            <a:endParaRPr lang="en-US" sz="1350" dirty="0"/>
          </a:p>
          <a:p>
            <a:pPr marL="342900" indent="-342900">
              <a:spcAft>
                <a:spcPts val="800"/>
              </a:spcAft>
              <a:buSzPct val="100000"/>
              <a:buChar char="•"/>
            </a:pPr>
            <a:r>
              <a:rPr lang="en-US" sz="1350" dirty="0">
                <a:solidFill>
                  <a:srgbClr val="1B2433"/>
                </a:solidFill>
                <a:latin typeface="Calibri" pitchFamily="34" charset="0"/>
                <a:ea typeface="Calibri" pitchFamily="34" charset="-122"/>
                <a:cs typeface="Calibri" pitchFamily="34" charset="-120"/>
              </a:rPr>
              <a:t>Reference: ThickSurface.1 · To measure: aligned mesh</a:t>
            </a:r>
            <a:endParaRPr lang="en-US" sz="1350" dirty="0"/>
          </a:p>
          <a:p>
            <a:pPr marL="342900" indent="-342900">
              <a:spcAft>
                <a:spcPts val="800"/>
              </a:spcAft>
              <a:buSzPct val="100000"/>
              <a:buChar char="•"/>
            </a:pPr>
            <a:r>
              <a:rPr lang="en-US" sz="1350" dirty="0">
                <a:solidFill>
                  <a:srgbClr val="1B2433"/>
                </a:solidFill>
                <a:latin typeface="Calibri" pitchFamily="34" charset="0"/>
                <a:ea typeface="Calibri" pitchFamily="34" charset="-122"/>
                <a:cs typeface="Calibri" pitchFamily="34" charset="-120"/>
              </a:rPr>
              <a:t>Most of the panel is green ≈ 0 mm (close match)</a:t>
            </a:r>
            <a:endParaRPr lang="en-US" sz="1350" dirty="0"/>
          </a:p>
          <a:p>
            <a:pPr marL="342900" indent="-342900">
              <a:spcAft>
                <a:spcPts val="800"/>
              </a:spcAft>
              <a:buSzPct val="100000"/>
              <a:buChar char="•"/>
            </a:pPr>
            <a:r>
              <a:rPr lang="en-US" sz="1350" dirty="0">
                <a:solidFill>
                  <a:srgbClr val="1B2433"/>
                </a:solidFill>
                <a:latin typeface="Calibri" pitchFamily="34" charset="0"/>
                <a:ea typeface="Calibri" pitchFamily="34" charset="-122"/>
                <a:cs typeface="Calibri" pitchFamily="34" charset="-120"/>
              </a:rPr>
              <a:t>Positive max ≈ 0.50 mm on the main panel</a:t>
            </a:r>
            <a:endParaRPr lang="en-US" sz="1350" dirty="0"/>
          </a:p>
          <a:p>
            <a:pPr marL="342900" indent="-342900">
              <a:spcAft>
                <a:spcPts val="800"/>
              </a:spcAft>
              <a:buSzPct val="100000"/>
              <a:buChar char="•"/>
            </a:pPr>
            <a:r>
              <a:rPr lang="en-US" sz="1350" dirty="0">
                <a:solidFill>
                  <a:srgbClr val="1B2433"/>
                </a:solidFill>
                <a:latin typeface="Calibri" pitchFamily="34" charset="0"/>
                <a:ea typeface="Calibri" pitchFamily="34" charset="-122"/>
                <a:cs typeface="Calibri" pitchFamily="34" charset="-120"/>
              </a:rPr>
              <a:t>Larger deviation only at edges / feature lines</a:t>
            </a:r>
            <a:endParaRPr lang="en-US" sz="1350" dirty="0"/>
          </a:p>
        </p:txBody>
      </p:sp>
      <p:sp>
        <p:nvSpPr>
          <p:cNvPr id="9" name="Shape 7"/>
          <p:cNvSpPr/>
          <p:nvPr/>
        </p:nvSpPr>
        <p:spPr>
          <a:xfrm>
            <a:off x="7818120" y="4892040"/>
            <a:ext cx="3703320" cy="1417320"/>
          </a:xfrm>
          <a:prstGeom prst="roundRect">
            <a:avLst>
              <a:gd name="adj" fmla="val 3871"/>
            </a:avLst>
          </a:prstGeom>
          <a:solidFill>
            <a:srgbClr val="F4F6F9"/>
          </a:solidFill>
          <a:ln/>
          <a:effectLst>
            <a:outerShdw blurRad="88900" dist="25400" dir="5400000" algn="bl" rotWithShape="0">
              <a:srgbClr val="000000">
                <a:alpha val="13000"/>
              </a:srgbClr>
            </a:outerShdw>
          </a:effectLst>
        </p:spPr>
      </p:sp>
      <p:sp>
        <p:nvSpPr>
          <p:cNvPr id="10" name="Text 8"/>
          <p:cNvSpPr/>
          <p:nvPr/>
        </p:nvSpPr>
        <p:spPr>
          <a:xfrm>
            <a:off x="8001000" y="5029200"/>
            <a:ext cx="3337560" cy="320040"/>
          </a:xfrm>
          <a:prstGeom prst="rect">
            <a:avLst/>
          </a:prstGeom>
          <a:noFill/>
          <a:ln/>
        </p:spPr>
        <p:txBody>
          <a:bodyPr wrap="square" lIns="0" tIns="0" rIns="0" bIns="0" rtlCol="0" anchor="ctr"/>
          <a:lstStyle/>
          <a:p>
            <a:pPr marL="0" indent="0">
              <a:buNone/>
            </a:pPr>
            <a:r>
              <a:rPr lang="en-US" sz="1300" b="1" dirty="0">
                <a:solidFill>
                  <a:srgbClr val="1C7293"/>
                </a:solidFill>
                <a:latin typeface="Cambria" pitchFamily="34" charset="0"/>
                <a:ea typeface="Cambria" pitchFamily="34" charset="-122"/>
                <a:cs typeface="Cambria" pitchFamily="34" charset="-120"/>
              </a:rPr>
              <a:t>Commands used</a:t>
            </a:r>
            <a:endParaRPr lang="en-US" sz="1300" dirty="0"/>
          </a:p>
        </p:txBody>
      </p:sp>
      <p:sp>
        <p:nvSpPr>
          <p:cNvPr id="11" name="Text 9"/>
          <p:cNvSpPr/>
          <p:nvPr/>
        </p:nvSpPr>
        <p:spPr>
          <a:xfrm>
            <a:off x="8001000" y="5394960"/>
            <a:ext cx="3337560" cy="822960"/>
          </a:xfrm>
          <a:prstGeom prst="rect">
            <a:avLst/>
          </a:prstGeom>
          <a:noFill/>
          <a:ln/>
        </p:spPr>
        <p:txBody>
          <a:bodyPr wrap="square" lIns="0" tIns="0" rIns="0" bIns="0" rtlCol="0" anchor="ctr"/>
          <a:lstStyle/>
          <a:p>
            <a:pPr marL="0" indent="0">
              <a:buNone/>
            </a:pPr>
            <a:r>
              <a:rPr lang="en-US" sz="1250" dirty="0">
                <a:solidFill>
                  <a:srgbClr val="1B2433"/>
                </a:solidFill>
                <a:latin typeface="Calibri" pitchFamily="34" charset="0"/>
                <a:ea typeface="Calibri" pitchFamily="34" charset="-122"/>
                <a:cs typeface="Calibri" pitchFamily="34" charset="-120"/>
              </a:rPr>
              <a:t>DSE: Insert &gt; Analysis &gt; Deviation Analysis</a:t>
            </a:r>
            <a:endParaRPr lang="en-US" sz="1250" dirty="0"/>
          </a:p>
        </p:txBody>
      </p:sp>
      <p:pic>
        <p:nvPicPr>
          <p:cNvPr id="14" name="Picture 13">
            <a:extLst>
              <a:ext uri="{FF2B5EF4-FFF2-40B4-BE49-F238E27FC236}">
                <a16:creationId xmlns:a16="http://schemas.microsoft.com/office/drawing/2014/main" id="{D1F44A75-0F07-65A8-7EBD-40F86EF987F7}"/>
              </a:ext>
            </a:extLst>
          </p:cNvPr>
          <p:cNvPicPr>
            <a:picLocks noChangeAspect="1"/>
          </p:cNvPicPr>
          <p:nvPr/>
        </p:nvPicPr>
        <p:blipFill>
          <a:blip r:embed="rId3"/>
          <a:stretch>
            <a:fillRect/>
          </a:stretch>
        </p:blipFill>
        <p:spPr>
          <a:xfrm>
            <a:off x="868105" y="1698868"/>
            <a:ext cx="6629975" cy="4519052"/>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21295C"/>
        </a:solidFill>
        <a:effectLst/>
      </p:bgPr>
    </p:bg>
    <p:spTree>
      <p:nvGrpSpPr>
        <p:cNvPr id="1" name=""/>
        <p:cNvGrpSpPr/>
        <p:nvPr/>
      </p:nvGrpSpPr>
      <p:grpSpPr>
        <a:xfrm>
          <a:off x="0" y="0"/>
          <a:ext cx="0" cy="0"/>
          <a:chOff x="0" y="0"/>
          <a:chExt cx="0" cy="0"/>
        </a:xfrm>
      </p:grpSpPr>
      <p:sp>
        <p:nvSpPr>
          <p:cNvPr id="2" name="Text 0"/>
          <p:cNvSpPr/>
          <p:nvPr/>
        </p:nvSpPr>
        <p:spPr>
          <a:xfrm>
            <a:off x="822960" y="640080"/>
            <a:ext cx="10515600" cy="731520"/>
          </a:xfrm>
          <a:prstGeom prst="rect">
            <a:avLst/>
          </a:prstGeom>
          <a:noFill/>
          <a:ln/>
        </p:spPr>
        <p:txBody>
          <a:bodyPr wrap="square" lIns="0" tIns="0" rIns="0" bIns="0" rtlCol="0" anchor="ctr"/>
          <a:lstStyle/>
          <a:p>
            <a:pPr marL="0" indent="0">
              <a:buNone/>
            </a:pPr>
            <a:r>
              <a:rPr lang="en-US" sz="3400" b="1" dirty="0">
                <a:solidFill>
                  <a:srgbClr val="FFFFFF"/>
                </a:solidFill>
                <a:latin typeface="Cambria" pitchFamily="34" charset="0"/>
                <a:ea typeface="Cambria" pitchFamily="34" charset="-122"/>
                <a:cs typeface="Cambria" pitchFamily="34" charset="-120"/>
              </a:rPr>
              <a:t>Result &amp; Deliverables</a:t>
            </a:r>
            <a:endParaRPr lang="en-US" sz="3400" dirty="0"/>
          </a:p>
        </p:txBody>
      </p:sp>
      <p:sp>
        <p:nvSpPr>
          <p:cNvPr id="3" name="Text 1"/>
          <p:cNvSpPr/>
          <p:nvPr/>
        </p:nvSpPr>
        <p:spPr>
          <a:xfrm>
            <a:off x="822960" y="1417320"/>
            <a:ext cx="10515600" cy="457200"/>
          </a:xfrm>
          <a:prstGeom prst="rect">
            <a:avLst/>
          </a:prstGeom>
          <a:noFill/>
          <a:ln/>
        </p:spPr>
        <p:txBody>
          <a:bodyPr wrap="square" rtlCol="0" anchor="ctr"/>
          <a:lstStyle/>
          <a:p>
            <a:pPr marL="0" indent="0">
              <a:buNone/>
            </a:pPr>
            <a:r>
              <a:rPr lang="en-US" sz="1500" dirty="0">
                <a:solidFill>
                  <a:srgbClr val="CADCFC"/>
                </a:solidFill>
                <a:latin typeface="Calibri" pitchFamily="34" charset="0"/>
                <a:ea typeface="Calibri" pitchFamily="34" charset="-122"/>
                <a:cs typeface="Calibri" pitchFamily="34" charset="-120"/>
              </a:rPr>
              <a:t>A complete parametric solid of the hood, rebuilt from the scan using only permitted commands.</a:t>
            </a:r>
            <a:endParaRPr lang="en-US" sz="1500" dirty="0"/>
          </a:p>
        </p:txBody>
      </p:sp>
      <p:sp>
        <p:nvSpPr>
          <p:cNvPr id="4" name="Shape 2"/>
          <p:cNvSpPr/>
          <p:nvPr/>
        </p:nvSpPr>
        <p:spPr>
          <a:xfrm>
            <a:off x="822960" y="2194560"/>
            <a:ext cx="5166360" cy="1143000"/>
          </a:xfrm>
          <a:prstGeom prst="roundRect">
            <a:avLst>
              <a:gd name="adj" fmla="val 5600"/>
            </a:avLst>
          </a:prstGeom>
          <a:solidFill>
            <a:srgbClr val="2C3566"/>
          </a:solidFill>
          <a:ln/>
          <a:effectLst>
            <a:outerShdw blurRad="88900" dist="25400" dir="5400000" algn="bl" rotWithShape="0">
              <a:srgbClr val="000000">
                <a:alpha val="13000"/>
              </a:srgbClr>
            </a:outerShdw>
          </a:effectLst>
        </p:spPr>
      </p:sp>
      <p:sp>
        <p:nvSpPr>
          <p:cNvPr id="5" name="Shape 3"/>
          <p:cNvSpPr/>
          <p:nvPr/>
        </p:nvSpPr>
        <p:spPr>
          <a:xfrm>
            <a:off x="1051560" y="2519172"/>
            <a:ext cx="493776" cy="493776"/>
          </a:xfrm>
          <a:prstGeom prst="ellipse">
            <a:avLst/>
          </a:prstGeom>
          <a:solidFill>
            <a:srgbClr val="02C39A"/>
          </a:solidFill>
          <a:ln/>
        </p:spPr>
      </p:sp>
      <p:sp>
        <p:nvSpPr>
          <p:cNvPr id="6" name="Text 4"/>
          <p:cNvSpPr/>
          <p:nvPr/>
        </p:nvSpPr>
        <p:spPr>
          <a:xfrm>
            <a:off x="1051560" y="2519172"/>
            <a:ext cx="493776" cy="493776"/>
          </a:xfrm>
          <a:prstGeom prst="rect">
            <a:avLst/>
          </a:prstGeom>
          <a:noFill/>
          <a:ln/>
        </p:spPr>
        <p:txBody>
          <a:bodyPr wrap="square"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a:t>
            </a:r>
            <a:endParaRPr lang="en-US" sz="2200" dirty="0"/>
          </a:p>
        </p:txBody>
      </p:sp>
      <p:sp>
        <p:nvSpPr>
          <p:cNvPr id="7" name="Text 5"/>
          <p:cNvSpPr/>
          <p:nvPr/>
        </p:nvSpPr>
        <p:spPr>
          <a:xfrm>
            <a:off x="1737360" y="2377440"/>
            <a:ext cx="4069080" cy="384048"/>
          </a:xfrm>
          <a:prstGeom prst="rect">
            <a:avLst/>
          </a:prstGeom>
          <a:noFill/>
          <a:ln/>
        </p:spPr>
        <p:txBody>
          <a:bodyPr wrap="square" lIns="0" tIns="0" rIns="0" bIns="0" rtlCol="0" anchor="ctr"/>
          <a:lstStyle/>
          <a:p>
            <a:pPr marL="0" indent="0">
              <a:buNone/>
            </a:pPr>
            <a:r>
              <a:rPr lang="en-US" sz="1600" b="1" dirty="0">
                <a:solidFill>
                  <a:srgbClr val="FFFFFF"/>
                </a:solidFill>
                <a:latin typeface="Cambria" pitchFamily="34" charset="0"/>
                <a:ea typeface="Cambria" pitchFamily="34" charset="-122"/>
                <a:cs typeface="Cambria" pitchFamily="34" charset="-120"/>
              </a:rPr>
              <a:t>Import</a:t>
            </a:r>
            <a:endParaRPr lang="en-US" sz="1600" dirty="0"/>
          </a:p>
        </p:txBody>
      </p:sp>
      <p:sp>
        <p:nvSpPr>
          <p:cNvPr id="8" name="Text 6"/>
          <p:cNvSpPr/>
          <p:nvPr/>
        </p:nvSpPr>
        <p:spPr>
          <a:xfrm>
            <a:off x="1737360" y="2761488"/>
            <a:ext cx="4069080" cy="457200"/>
          </a:xfrm>
          <a:prstGeom prst="rect">
            <a:avLst/>
          </a:prstGeom>
          <a:noFill/>
          <a:ln/>
        </p:spPr>
        <p:txBody>
          <a:bodyPr wrap="square" lIns="0" tIns="0" rIns="0" bIns="0" rtlCol="0" anchor="ctr"/>
          <a:lstStyle/>
          <a:p>
            <a:pPr marL="0" indent="0">
              <a:buNone/>
            </a:pPr>
            <a:r>
              <a:rPr lang="en-US" sz="1200" dirty="0">
                <a:solidFill>
                  <a:srgbClr val="AEB9DE"/>
                </a:solidFill>
                <a:latin typeface="Calibri" pitchFamily="34" charset="0"/>
                <a:ea typeface="Calibri" pitchFamily="34" charset="-122"/>
                <a:cs typeface="Calibri" pitchFamily="34" charset="-120"/>
              </a:rPr>
              <a:t>Mesh imported in DSE</a:t>
            </a:r>
            <a:endParaRPr lang="en-US" sz="1200" dirty="0"/>
          </a:p>
        </p:txBody>
      </p:sp>
      <p:sp>
        <p:nvSpPr>
          <p:cNvPr id="9" name="Shape 7"/>
          <p:cNvSpPr/>
          <p:nvPr/>
        </p:nvSpPr>
        <p:spPr>
          <a:xfrm>
            <a:off x="6263640" y="2194560"/>
            <a:ext cx="5166360" cy="1143000"/>
          </a:xfrm>
          <a:prstGeom prst="roundRect">
            <a:avLst>
              <a:gd name="adj" fmla="val 5600"/>
            </a:avLst>
          </a:prstGeom>
          <a:solidFill>
            <a:srgbClr val="2C3566"/>
          </a:solidFill>
          <a:ln/>
          <a:effectLst>
            <a:outerShdw blurRad="88900" dist="25400" dir="5400000" algn="bl" rotWithShape="0">
              <a:srgbClr val="000000">
                <a:alpha val="13000"/>
              </a:srgbClr>
            </a:outerShdw>
          </a:effectLst>
        </p:spPr>
      </p:sp>
      <p:sp>
        <p:nvSpPr>
          <p:cNvPr id="10" name="Shape 8"/>
          <p:cNvSpPr/>
          <p:nvPr/>
        </p:nvSpPr>
        <p:spPr>
          <a:xfrm>
            <a:off x="6492240" y="2519172"/>
            <a:ext cx="493776" cy="493776"/>
          </a:xfrm>
          <a:prstGeom prst="ellipse">
            <a:avLst/>
          </a:prstGeom>
          <a:solidFill>
            <a:srgbClr val="02C39A"/>
          </a:solidFill>
          <a:ln/>
        </p:spPr>
      </p:sp>
      <p:sp>
        <p:nvSpPr>
          <p:cNvPr id="11" name="Text 9"/>
          <p:cNvSpPr/>
          <p:nvPr/>
        </p:nvSpPr>
        <p:spPr>
          <a:xfrm>
            <a:off x="6492240" y="2519172"/>
            <a:ext cx="493776" cy="493776"/>
          </a:xfrm>
          <a:prstGeom prst="rect">
            <a:avLst/>
          </a:prstGeom>
          <a:noFill/>
          <a:ln/>
        </p:spPr>
        <p:txBody>
          <a:bodyPr wrap="square"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a:t>
            </a:r>
            <a:endParaRPr lang="en-US" sz="2200" dirty="0"/>
          </a:p>
        </p:txBody>
      </p:sp>
      <p:sp>
        <p:nvSpPr>
          <p:cNvPr id="12" name="Text 10"/>
          <p:cNvSpPr/>
          <p:nvPr/>
        </p:nvSpPr>
        <p:spPr>
          <a:xfrm>
            <a:off x="7178040" y="2377440"/>
            <a:ext cx="4069080" cy="384048"/>
          </a:xfrm>
          <a:prstGeom prst="rect">
            <a:avLst/>
          </a:prstGeom>
          <a:noFill/>
          <a:ln/>
        </p:spPr>
        <p:txBody>
          <a:bodyPr wrap="square" lIns="0" tIns="0" rIns="0" bIns="0" rtlCol="0" anchor="ctr"/>
          <a:lstStyle/>
          <a:p>
            <a:pPr marL="0" indent="0">
              <a:buNone/>
            </a:pPr>
            <a:r>
              <a:rPr lang="en-US" sz="1600" b="1" dirty="0">
                <a:solidFill>
                  <a:srgbClr val="FFFFFF"/>
                </a:solidFill>
                <a:latin typeface="Cambria" pitchFamily="34" charset="0"/>
                <a:ea typeface="Cambria" pitchFamily="34" charset="-122"/>
                <a:cs typeface="Cambria" pitchFamily="34" charset="-120"/>
              </a:rPr>
              <a:t>Alignment</a:t>
            </a:r>
            <a:endParaRPr lang="en-US" sz="1600" dirty="0"/>
          </a:p>
        </p:txBody>
      </p:sp>
      <p:sp>
        <p:nvSpPr>
          <p:cNvPr id="13" name="Text 11"/>
          <p:cNvSpPr/>
          <p:nvPr/>
        </p:nvSpPr>
        <p:spPr>
          <a:xfrm>
            <a:off x="7178040" y="2761488"/>
            <a:ext cx="4069080" cy="457200"/>
          </a:xfrm>
          <a:prstGeom prst="rect">
            <a:avLst/>
          </a:prstGeom>
          <a:noFill/>
          <a:ln/>
        </p:spPr>
        <p:txBody>
          <a:bodyPr wrap="square" lIns="0" tIns="0" rIns="0" bIns="0" rtlCol="0" anchor="ctr"/>
          <a:lstStyle/>
          <a:p>
            <a:pPr marL="0" indent="0">
              <a:buNone/>
            </a:pPr>
            <a:r>
              <a:rPr lang="en-US" sz="1200" dirty="0">
                <a:solidFill>
                  <a:srgbClr val="AEB9DE"/>
                </a:solidFill>
                <a:latin typeface="Calibri" pitchFamily="34" charset="0"/>
                <a:ea typeface="Calibri" pitchFamily="34" charset="-122"/>
                <a:cs typeface="Calibri" pitchFamily="34" charset="-120"/>
              </a:rPr>
              <a:t>Flat &amp; centered, symmetry on yz</a:t>
            </a:r>
            <a:endParaRPr lang="en-US" sz="1200" dirty="0"/>
          </a:p>
        </p:txBody>
      </p:sp>
      <p:sp>
        <p:nvSpPr>
          <p:cNvPr id="14" name="Shape 12"/>
          <p:cNvSpPr/>
          <p:nvPr/>
        </p:nvSpPr>
        <p:spPr>
          <a:xfrm>
            <a:off x="822960" y="3566160"/>
            <a:ext cx="5166360" cy="1143000"/>
          </a:xfrm>
          <a:prstGeom prst="roundRect">
            <a:avLst>
              <a:gd name="adj" fmla="val 5600"/>
            </a:avLst>
          </a:prstGeom>
          <a:solidFill>
            <a:srgbClr val="2C3566"/>
          </a:solidFill>
          <a:ln/>
          <a:effectLst>
            <a:outerShdw blurRad="88900" dist="25400" dir="5400000" algn="bl" rotWithShape="0">
              <a:srgbClr val="000000">
                <a:alpha val="13000"/>
              </a:srgbClr>
            </a:outerShdw>
          </a:effectLst>
        </p:spPr>
      </p:sp>
      <p:sp>
        <p:nvSpPr>
          <p:cNvPr id="15" name="Shape 13"/>
          <p:cNvSpPr/>
          <p:nvPr/>
        </p:nvSpPr>
        <p:spPr>
          <a:xfrm>
            <a:off x="1051560" y="3890772"/>
            <a:ext cx="493776" cy="493776"/>
          </a:xfrm>
          <a:prstGeom prst="ellipse">
            <a:avLst/>
          </a:prstGeom>
          <a:solidFill>
            <a:srgbClr val="02C39A"/>
          </a:solidFill>
          <a:ln/>
        </p:spPr>
      </p:sp>
      <p:sp>
        <p:nvSpPr>
          <p:cNvPr id="16" name="Text 14"/>
          <p:cNvSpPr/>
          <p:nvPr/>
        </p:nvSpPr>
        <p:spPr>
          <a:xfrm>
            <a:off x="1051560" y="3890772"/>
            <a:ext cx="493776" cy="493776"/>
          </a:xfrm>
          <a:prstGeom prst="rect">
            <a:avLst/>
          </a:prstGeom>
          <a:noFill/>
          <a:ln/>
        </p:spPr>
        <p:txBody>
          <a:bodyPr wrap="square"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a:t>
            </a:r>
            <a:endParaRPr lang="en-US" sz="2200" dirty="0"/>
          </a:p>
        </p:txBody>
      </p:sp>
      <p:sp>
        <p:nvSpPr>
          <p:cNvPr id="17" name="Text 15"/>
          <p:cNvSpPr/>
          <p:nvPr/>
        </p:nvSpPr>
        <p:spPr>
          <a:xfrm>
            <a:off x="1737360" y="3749040"/>
            <a:ext cx="4069080" cy="384048"/>
          </a:xfrm>
          <a:prstGeom prst="rect">
            <a:avLst/>
          </a:prstGeom>
          <a:noFill/>
          <a:ln/>
        </p:spPr>
        <p:txBody>
          <a:bodyPr wrap="square" lIns="0" tIns="0" rIns="0" bIns="0" rtlCol="0" anchor="ctr"/>
          <a:lstStyle/>
          <a:p>
            <a:pPr marL="0" indent="0">
              <a:buNone/>
            </a:pPr>
            <a:r>
              <a:rPr lang="en-US" sz="1600" b="1" dirty="0">
                <a:solidFill>
                  <a:srgbClr val="FFFFFF"/>
                </a:solidFill>
                <a:latin typeface="Cambria" pitchFamily="34" charset="0"/>
                <a:ea typeface="Cambria" pitchFamily="34" charset="-122"/>
                <a:cs typeface="Cambria" pitchFamily="34" charset="-120"/>
              </a:rPr>
              <a:t>Surface</a:t>
            </a:r>
            <a:endParaRPr lang="en-US" sz="1600" dirty="0"/>
          </a:p>
        </p:txBody>
      </p:sp>
      <p:sp>
        <p:nvSpPr>
          <p:cNvPr id="18" name="Text 16"/>
          <p:cNvSpPr/>
          <p:nvPr/>
        </p:nvSpPr>
        <p:spPr>
          <a:xfrm>
            <a:off x="1737360" y="4133088"/>
            <a:ext cx="4069080" cy="457200"/>
          </a:xfrm>
          <a:prstGeom prst="rect">
            <a:avLst/>
          </a:prstGeom>
          <a:noFill/>
          <a:ln/>
        </p:spPr>
        <p:txBody>
          <a:bodyPr wrap="square" lIns="0" tIns="0" rIns="0" bIns="0" rtlCol="0" anchor="ctr"/>
          <a:lstStyle/>
          <a:p>
            <a:pPr marL="0" indent="0">
              <a:buNone/>
            </a:pPr>
            <a:r>
              <a:rPr lang="en-US" sz="1200" dirty="0">
                <a:solidFill>
                  <a:srgbClr val="AEB9DE"/>
                </a:solidFill>
                <a:latin typeface="Calibri" pitchFamily="34" charset="0"/>
                <a:ea typeface="Calibri" pitchFamily="34" charset="-122"/>
                <a:cs typeface="Calibri" pitchFamily="34" charset="-120"/>
              </a:rPr>
              <a:t>Multi-Section Surface, clean tree, allowed commands only</a:t>
            </a:r>
            <a:endParaRPr lang="en-US" sz="1200" dirty="0"/>
          </a:p>
        </p:txBody>
      </p:sp>
      <p:sp>
        <p:nvSpPr>
          <p:cNvPr id="19" name="Shape 17"/>
          <p:cNvSpPr/>
          <p:nvPr/>
        </p:nvSpPr>
        <p:spPr>
          <a:xfrm>
            <a:off x="6263640" y="3566160"/>
            <a:ext cx="5166360" cy="1143000"/>
          </a:xfrm>
          <a:prstGeom prst="roundRect">
            <a:avLst>
              <a:gd name="adj" fmla="val 5600"/>
            </a:avLst>
          </a:prstGeom>
          <a:solidFill>
            <a:srgbClr val="2C3566"/>
          </a:solidFill>
          <a:ln/>
          <a:effectLst>
            <a:outerShdw blurRad="88900" dist="25400" dir="5400000" algn="bl" rotWithShape="0">
              <a:srgbClr val="000000">
                <a:alpha val="13000"/>
              </a:srgbClr>
            </a:outerShdw>
          </a:effectLst>
        </p:spPr>
      </p:sp>
      <p:sp>
        <p:nvSpPr>
          <p:cNvPr id="20" name="Shape 18"/>
          <p:cNvSpPr/>
          <p:nvPr/>
        </p:nvSpPr>
        <p:spPr>
          <a:xfrm>
            <a:off x="6492240" y="3890772"/>
            <a:ext cx="493776" cy="493776"/>
          </a:xfrm>
          <a:prstGeom prst="ellipse">
            <a:avLst/>
          </a:prstGeom>
          <a:solidFill>
            <a:srgbClr val="02C39A"/>
          </a:solidFill>
          <a:ln/>
        </p:spPr>
      </p:sp>
      <p:sp>
        <p:nvSpPr>
          <p:cNvPr id="21" name="Text 19"/>
          <p:cNvSpPr/>
          <p:nvPr/>
        </p:nvSpPr>
        <p:spPr>
          <a:xfrm>
            <a:off x="6492240" y="3890772"/>
            <a:ext cx="493776" cy="493776"/>
          </a:xfrm>
          <a:prstGeom prst="rect">
            <a:avLst/>
          </a:prstGeom>
          <a:noFill/>
          <a:ln/>
        </p:spPr>
        <p:txBody>
          <a:bodyPr wrap="square"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a:t>
            </a:r>
            <a:endParaRPr lang="en-US" sz="2200" dirty="0"/>
          </a:p>
        </p:txBody>
      </p:sp>
      <p:sp>
        <p:nvSpPr>
          <p:cNvPr id="22" name="Text 20"/>
          <p:cNvSpPr/>
          <p:nvPr/>
        </p:nvSpPr>
        <p:spPr>
          <a:xfrm>
            <a:off x="7178040" y="3749040"/>
            <a:ext cx="4069080" cy="384048"/>
          </a:xfrm>
          <a:prstGeom prst="rect">
            <a:avLst/>
          </a:prstGeom>
          <a:noFill/>
          <a:ln/>
        </p:spPr>
        <p:txBody>
          <a:bodyPr wrap="square" lIns="0" tIns="0" rIns="0" bIns="0" rtlCol="0" anchor="ctr"/>
          <a:lstStyle/>
          <a:p>
            <a:pPr marL="0" indent="0">
              <a:buNone/>
            </a:pPr>
            <a:r>
              <a:rPr lang="en-US" sz="1600" b="1" dirty="0">
                <a:solidFill>
                  <a:srgbClr val="FFFFFF"/>
                </a:solidFill>
                <a:latin typeface="Cambria" pitchFamily="34" charset="0"/>
                <a:ea typeface="Cambria" pitchFamily="34" charset="-122"/>
                <a:cs typeface="Cambria" pitchFamily="34" charset="-120"/>
              </a:rPr>
              <a:t>Solid</a:t>
            </a:r>
            <a:endParaRPr lang="en-US" sz="1600" dirty="0"/>
          </a:p>
        </p:txBody>
      </p:sp>
      <p:sp>
        <p:nvSpPr>
          <p:cNvPr id="23" name="Text 21"/>
          <p:cNvSpPr/>
          <p:nvPr/>
        </p:nvSpPr>
        <p:spPr>
          <a:xfrm>
            <a:off x="7178040" y="4133088"/>
            <a:ext cx="4069080" cy="457200"/>
          </a:xfrm>
          <a:prstGeom prst="rect">
            <a:avLst/>
          </a:prstGeom>
          <a:noFill/>
          <a:ln/>
        </p:spPr>
        <p:txBody>
          <a:bodyPr wrap="square" lIns="0" tIns="0" rIns="0" bIns="0" rtlCol="0" anchor="ctr"/>
          <a:lstStyle/>
          <a:p>
            <a:pPr marL="0" indent="0">
              <a:buNone/>
            </a:pPr>
            <a:r>
              <a:rPr lang="en-US" sz="1200" dirty="0">
                <a:solidFill>
                  <a:srgbClr val="AEB9DE"/>
                </a:solidFill>
                <a:latin typeface="Calibri" pitchFamily="34" charset="0"/>
                <a:ea typeface="Calibri" pitchFamily="34" charset="-122"/>
                <a:cs typeface="Calibri" pitchFamily="34" charset="-120"/>
              </a:rPr>
              <a:t>Thick Surface, 1 mm</a:t>
            </a:r>
            <a:endParaRPr lang="en-US" sz="1200" dirty="0"/>
          </a:p>
        </p:txBody>
      </p:sp>
      <p:sp>
        <p:nvSpPr>
          <p:cNvPr id="24" name="Shape 22"/>
          <p:cNvSpPr/>
          <p:nvPr/>
        </p:nvSpPr>
        <p:spPr>
          <a:xfrm>
            <a:off x="822960" y="4937760"/>
            <a:ext cx="5166360" cy="1143000"/>
          </a:xfrm>
          <a:prstGeom prst="roundRect">
            <a:avLst>
              <a:gd name="adj" fmla="val 5600"/>
            </a:avLst>
          </a:prstGeom>
          <a:solidFill>
            <a:srgbClr val="2C3566"/>
          </a:solidFill>
          <a:ln/>
          <a:effectLst>
            <a:outerShdw blurRad="88900" dist="25400" dir="5400000" algn="bl" rotWithShape="0">
              <a:srgbClr val="000000">
                <a:alpha val="13000"/>
              </a:srgbClr>
            </a:outerShdw>
          </a:effectLst>
        </p:spPr>
      </p:sp>
      <p:sp>
        <p:nvSpPr>
          <p:cNvPr id="25" name="Shape 23"/>
          <p:cNvSpPr/>
          <p:nvPr/>
        </p:nvSpPr>
        <p:spPr>
          <a:xfrm>
            <a:off x="1051560" y="5262372"/>
            <a:ext cx="493776" cy="493776"/>
          </a:xfrm>
          <a:prstGeom prst="ellipse">
            <a:avLst/>
          </a:prstGeom>
          <a:solidFill>
            <a:srgbClr val="02C39A"/>
          </a:solidFill>
          <a:ln/>
        </p:spPr>
      </p:sp>
      <p:sp>
        <p:nvSpPr>
          <p:cNvPr id="26" name="Text 24"/>
          <p:cNvSpPr/>
          <p:nvPr/>
        </p:nvSpPr>
        <p:spPr>
          <a:xfrm>
            <a:off x="1051560" y="5262372"/>
            <a:ext cx="493776" cy="493776"/>
          </a:xfrm>
          <a:prstGeom prst="rect">
            <a:avLst/>
          </a:prstGeom>
          <a:noFill/>
          <a:ln/>
        </p:spPr>
        <p:txBody>
          <a:bodyPr wrap="square"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a:t>
            </a:r>
            <a:endParaRPr lang="en-US" sz="2200" dirty="0"/>
          </a:p>
        </p:txBody>
      </p:sp>
      <p:sp>
        <p:nvSpPr>
          <p:cNvPr id="27" name="Text 25"/>
          <p:cNvSpPr/>
          <p:nvPr/>
        </p:nvSpPr>
        <p:spPr>
          <a:xfrm>
            <a:off x="1737360" y="5120640"/>
            <a:ext cx="4069080" cy="384048"/>
          </a:xfrm>
          <a:prstGeom prst="rect">
            <a:avLst/>
          </a:prstGeom>
          <a:noFill/>
          <a:ln/>
        </p:spPr>
        <p:txBody>
          <a:bodyPr wrap="square" lIns="0" tIns="0" rIns="0" bIns="0" rtlCol="0" anchor="ctr"/>
          <a:lstStyle/>
          <a:p>
            <a:pPr marL="0" indent="0">
              <a:buNone/>
            </a:pPr>
            <a:r>
              <a:rPr lang="en-US" sz="1600" b="1" dirty="0">
                <a:solidFill>
                  <a:srgbClr val="FFFFFF"/>
                </a:solidFill>
                <a:latin typeface="Cambria" pitchFamily="34" charset="0"/>
                <a:ea typeface="Cambria" pitchFamily="34" charset="-122"/>
                <a:cs typeface="Cambria" pitchFamily="34" charset="-120"/>
              </a:rPr>
              <a:t>Deviation</a:t>
            </a:r>
            <a:endParaRPr lang="en-US" sz="1600" dirty="0"/>
          </a:p>
        </p:txBody>
      </p:sp>
      <p:sp>
        <p:nvSpPr>
          <p:cNvPr id="28" name="Text 26"/>
          <p:cNvSpPr/>
          <p:nvPr/>
        </p:nvSpPr>
        <p:spPr>
          <a:xfrm>
            <a:off x="1737360" y="5504688"/>
            <a:ext cx="4069080" cy="457200"/>
          </a:xfrm>
          <a:prstGeom prst="rect">
            <a:avLst/>
          </a:prstGeom>
          <a:noFill/>
          <a:ln/>
        </p:spPr>
        <p:txBody>
          <a:bodyPr wrap="square" lIns="0" tIns="0" rIns="0" bIns="0" rtlCol="0" anchor="ctr"/>
          <a:lstStyle/>
          <a:p>
            <a:pPr marL="0" indent="0">
              <a:buNone/>
            </a:pPr>
            <a:r>
              <a:rPr lang="en-US" sz="1200" dirty="0">
                <a:solidFill>
                  <a:srgbClr val="AEB9DE"/>
                </a:solidFill>
                <a:latin typeface="Calibri" pitchFamily="34" charset="0"/>
                <a:ea typeface="Calibri" pitchFamily="34" charset="-122"/>
                <a:cs typeface="Calibri" pitchFamily="34" charset="-120"/>
              </a:rPr>
              <a:t>Main panel within ≈ 0.5 mm of the scan</a:t>
            </a:r>
            <a:endParaRPr lang="en-US" sz="1200" dirty="0"/>
          </a:p>
        </p:txBody>
      </p:sp>
      <p:sp>
        <p:nvSpPr>
          <p:cNvPr id="29" name="Shape 27"/>
          <p:cNvSpPr/>
          <p:nvPr/>
        </p:nvSpPr>
        <p:spPr>
          <a:xfrm>
            <a:off x="6263640" y="4937760"/>
            <a:ext cx="5166360" cy="1143000"/>
          </a:xfrm>
          <a:prstGeom prst="roundRect">
            <a:avLst>
              <a:gd name="adj" fmla="val 5600"/>
            </a:avLst>
          </a:prstGeom>
          <a:solidFill>
            <a:srgbClr val="2C3566"/>
          </a:solidFill>
          <a:ln/>
          <a:effectLst>
            <a:outerShdw blurRad="88900" dist="25400" dir="5400000" algn="bl" rotWithShape="0">
              <a:srgbClr val="000000">
                <a:alpha val="13000"/>
              </a:srgbClr>
            </a:outerShdw>
          </a:effectLst>
        </p:spPr>
      </p:sp>
      <p:sp>
        <p:nvSpPr>
          <p:cNvPr id="30" name="Shape 28"/>
          <p:cNvSpPr/>
          <p:nvPr/>
        </p:nvSpPr>
        <p:spPr>
          <a:xfrm>
            <a:off x="6492240" y="5262372"/>
            <a:ext cx="493776" cy="493776"/>
          </a:xfrm>
          <a:prstGeom prst="ellipse">
            <a:avLst/>
          </a:prstGeom>
          <a:solidFill>
            <a:srgbClr val="02C39A"/>
          </a:solidFill>
          <a:ln/>
        </p:spPr>
      </p:sp>
      <p:sp>
        <p:nvSpPr>
          <p:cNvPr id="31" name="Text 29"/>
          <p:cNvSpPr/>
          <p:nvPr/>
        </p:nvSpPr>
        <p:spPr>
          <a:xfrm>
            <a:off x="6492240" y="5262372"/>
            <a:ext cx="493776" cy="493776"/>
          </a:xfrm>
          <a:prstGeom prst="rect">
            <a:avLst/>
          </a:prstGeom>
          <a:noFill/>
          <a:ln/>
        </p:spPr>
        <p:txBody>
          <a:bodyPr wrap="square"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a:t>
            </a:r>
            <a:endParaRPr lang="en-US" sz="2200" dirty="0"/>
          </a:p>
        </p:txBody>
      </p:sp>
      <p:sp>
        <p:nvSpPr>
          <p:cNvPr id="32" name="Text 30"/>
          <p:cNvSpPr/>
          <p:nvPr/>
        </p:nvSpPr>
        <p:spPr>
          <a:xfrm>
            <a:off x="7178040" y="5120640"/>
            <a:ext cx="4069080" cy="384048"/>
          </a:xfrm>
          <a:prstGeom prst="rect">
            <a:avLst/>
          </a:prstGeom>
          <a:noFill/>
          <a:ln/>
        </p:spPr>
        <p:txBody>
          <a:bodyPr wrap="square" lIns="0" tIns="0" rIns="0" bIns="0" rtlCol="0" anchor="ctr"/>
          <a:lstStyle/>
          <a:p>
            <a:pPr marL="0" indent="0">
              <a:buNone/>
            </a:pPr>
            <a:r>
              <a:rPr lang="en-US" sz="1600" b="1" dirty="0">
                <a:solidFill>
                  <a:srgbClr val="FFFFFF"/>
                </a:solidFill>
                <a:latin typeface="Cambria" pitchFamily="34" charset="0"/>
                <a:ea typeface="Cambria" pitchFamily="34" charset="-122"/>
                <a:cs typeface="Cambria" pitchFamily="34" charset="-120"/>
              </a:rPr>
              <a:t>Files</a:t>
            </a:r>
            <a:endParaRPr lang="en-US" sz="1600" dirty="0"/>
          </a:p>
        </p:txBody>
      </p:sp>
      <p:sp>
        <p:nvSpPr>
          <p:cNvPr id="33" name="Text 31"/>
          <p:cNvSpPr/>
          <p:nvPr/>
        </p:nvSpPr>
        <p:spPr>
          <a:xfrm>
            <a:off x="7178040" y="5504688"/>
            <a:ext cx="4069080" cy="457200"/>
          </a:xfrm>
          <a:prstGeom prst="rect">
            <a:avLst/>
          </a:prstGeom>
          <a:noFill/>
          <a:ln/>
        </p:spPr>
        <p:txBody>
          <a:bodyPr wrap="square" lIns="0" tIns="0" rIns="0" bIns="0" rtlCol="0" anchor="ctr"/>
          <a:lstStyle/>
          <a:p>
            <a:pPr marL="0" indent="0">
              <a:buNone/>
            </a:pPr>
            <a:r>
              <a:rPr lang="en-US" sz="1200" dirty="0">
                <a:solidFill>
                  <a:srgbClr val="AEB9DE"/>
                </a:solidFill>
                <a:latin typeface="Calibri" pitchFamily="34" charset="0"/>
                <a:ea typeface="Calibri" pitchFamily="34" charset="-122"/>
                <a:cs typeface="Calibri" pitchFamily="34" charset="-120"/>
              </a:rPr>
              <a:t>Upload .CATPart + this presentation</a:t>
            </a:r>
            <a:endParaRPr lang="en-US" sz="1200" dirty="0"/>
          </a:p>
        </p:txBody>
      </p:sp>
      <p:sp>
        <p:nvSpPr>
          <p:cNvPr id="34" name="Text 32"/>
          <p:cNvSpPr/>
          <p:nvPr/>
        </p:nvSpPr>
        <p:spPr>
          <a:xfrm>
            <a:off x="822960" y="6263640"/>
            <a:ext cx="10515600" cy="365760"/>
          </a:xfrm>
          <a:prstGeom prst="rect">
            <a:avLst/>
          </a:prstGeom>
          <a:noFill/>
          <a:ln/>
        </p:spPr>
        <p:txBody>
          <a:bodyPr wrap="square" rtlCol="0" anchor="ctr"/>
          <a:lstStyle/>
          <a:p>
            <a:pPr marL="0" indent="0">
              <a:buNone/>
            </a:pPr>
            <a:r>
              <a:rPr lang="en-US" sz="1600" i="1" dirty="0">
                <a:solidFill>
                  <a:srgbClr val="CADCFC"/>
                </a:solidFill>
                <a:latin typeface="Cambria" pitchFamily="34" charset="0"/>
                <a:ea typeface="Cambria" pitchFamily="34" charset="-122"/>
                <a:cs typeface="Cambria" pitchFamily="34" charset="-120"/>
              </a:rPr>
              <a:t>Thank you</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31</TotalTime>
  <Words>1170</Words>
  <Application>Microsoft Office PowerPoint</Application>
  <PresentationFormat>Widescreen</PresentationFormat>
  <Paragraphs>138</Paragraphs>
  <Slides>10</Slides>
  <Notes>10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Car Hood Reverse Engineering in CATIA V5</dc:title>
  <dc:subject>PptxGenJS Presentation</dc:subject>
  <dc:creator>Student</dc:creator>
  <cp:lastModifiedBy>Diana-Laura Vaida</cp:lastModifiedBy>
  <cp:revision>10</cp:revision>
  <dcterms:created xsi:type="dcterms:W3CDTF">2026-06-21T20:01:17Z</dcterms:created>
  <dcterms:modified xsi:type="dcterms:W3CDTF">2026-07-07T13:27:24Z</dcterms:modified>
</cp:coreProperties>
</file>